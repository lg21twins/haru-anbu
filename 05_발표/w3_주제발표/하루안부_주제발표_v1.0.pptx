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</p:sldIdLst>
  <p:sldSz cx="14630400" cy="82296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2743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8C939A"/>
                </a:solidFill>
                <a:latin typeface="Pretendard"/>
              </a:rPr>
              <a:t>디지털콘텐츠제작03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258800" y="7589520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>
                <a:solidFill>
                  <a:srgbClr val="8C939A"/>
                </a:solidFill>
                <a:latin typeface="Pretendard"/>
              </a:rPr>
              <a:t>01 / 19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286000"/>
            <a:ext cx="91440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6400" b="1">
                <a:solidFill>
                  <a:srgbClr val="1E2A3A"/>
                </a:solidFill>
                <a:latin typeface="Pretendard"/>
              </a:rPr>
              <a:t>하루</a:t>
            </a:r>
            <a:r>
              <a:rPr sz="6400" b="1">
                <a:solidFill>
                  <a:srgbClr val="4ABAEB"/>
                </a:solidFill>
                <a:latin typeface="Pretendard"/>
              </a:rPr>
              <a:t>안부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84048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8C939A"/>
                </a:solidFill>
                <a:latin typeface="Pretendard"/>
              </a:rPr>
              <a:t>보호자 · 의료진 · 환자를 잇는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429768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8C939A"/>
                </a:solidFill>
                <a:latin typeface="Pretendard"/>
              </a:rPr>
              <a:t>AI 케어 소통 플랫폼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493776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C0C0C0"/>
                </a:solidFill>
                <a:latin typeface="Pretendard"/>
              </a:rPr>
              <a:t>"오늘 하루도, 안녕하셨습니다"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731520" y="6949440"/>
            <a:ext cx="13167360" cy="0"/>
          </a:xfrm>
          <a:prstGeom prst="line">
            <a:avLst/>
          </a:prstGeom>
          <a:ln w="6350">
            <a:solidFill>
              <a:srgbClr val="C0C0C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731520" y="704088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4ABAEB"/>
                </a:solidFill>
                <a:latin typeface="Pretendard"/>
              </a:rPr>
              <a:t>PROFESSOR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7315200"/>
            <a:ext cx="2743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8C939A"/>
                </a:solidFill>
                <a:latin typeface="Pretendard"/>
              </a:rPr>
              <a:t>남궁경 교수님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114800" y="704088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4ABAEB"/>
                </a:solidFill>
                <a:latin typeface="Pretendard"/>
              </a:rPr>
              <a:t>TEAM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114800" y="7315200"/>
            <a:ext cx="2743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8C939A"/>
                </a:solidFill>
                <a:latin typeface="Pretendard"/>
              </a:rPr>
              <a:t>노인과 바다
그리고 네잎클로버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498079" y="704088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4ABAEB"/>
                </a:solidFill>
                <a:latin typeface="Pretendard"/>
              </a:rPr>
              <a:t>MEMBERS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498079" y="7315200"/>
            <a:ext cx="2743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8C939A"/>
                </a:solidFill>
                <a:latin typeface="Pretendard"/>
              </a:rPr>
              <a:t>22361031 김지욱
22361056 손예찬
22561005 고해은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430000" y="704088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4ABAEB"/>
                </a:solidFill>
                <a:latin typeface="Pretendard"/>
              </a:rPr>
              <a:t>THE 4TH MEMBER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430000" y="7315200"/>
            <a:ext cx="2743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8C939A"/>
                </a:solidFill>
                <a:latin typeface="Pretendard"/>
              </a:rPr>
              <a:t>AI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2743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8C939A"/>
                </a:solidFill>
                <a:latin typeface="Pretendard"/>
              </a:rPr>
              <a:t>디지털콘텐츠제작03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258800" y="7589520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>
                <a:solidFill>
                  <a:srgbClr val="8C939A"/>
                </a:solidFill>
                <a:latin typeface="Pretendard"/>
              </a:rPr>
              <a:t>02 / 19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286000" y="182880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200" b="1">
                <a:solidFill>
                  <a:srgbClr val="1E2A3A"/>
                </a:solidFill>
                <a:latin typeface="Pretendard"/>
              </a:rPr>
              <a:t>오늘 부모님이 </a:t>
            </a:r>
            <a:r>
              <a:rPr sz="4200" b="1">
                <a:solidFill>
                  <a:srgbClr val="4ABAEB"/>
                </a:solidFill>
                <a:latin typeface="Pretendard"/>
              </a:rPr>
              <a:t>밥을 드셨는지,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286000" y="265176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200" b="1">
                <a:solidFill>
                  <a:srgbClr val="4ABAEB"/>
                </a:solidFill>
                <a:latin typeface="Pretendard"/>
              </a:rPr>
              <a:t>약을 드셨는지</a:t>
            </a:r>
            <a:r>
              <a:rPr sz="4200" b="1">
                <a:solidFill>
                  <a:srgbClr val="1E2A3A"/>
                </a:solidFill>
                <a:latin typeface="Pretendard"/>
              </a:rPr>
              <a:t> 모릅니다.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0" y="384048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8C939A"/>
                </a:solidFill>
                <a:latin typeface="Pretendard"/>
              </a:rPr>
              <a:t>요양시설에 계신 부모님을 매일 찾아뵐 수 없는 맞벌이 부부,
멀리 사는 자녀, 바쁜 일상 속 보호자 모두가 겪는 현실입니다.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0" y="576072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4ABAEB"/>
                </a:solidFill>
                <a:latin typeface="Pretendard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00400" y="612648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1E2A3A"/>
                </a:solidFill>
                <a:latin typeface="Pretendard"/>
              </a:rPr>
              <a:t>소통 단절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00400" y="649224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8C939A"/>
                </a:solidFill>
                <a:latin typeface="Pretendard"/>
              </a:rPr>
              <a:t>가족-의료진 정보 공유 부재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576072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4ABAEB"/>
                </a:solidFill>
                <a:latin typeface="Pretendard"/>
              </a:rPr>
              <a:t>02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612648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1E2A3A"/>
                </a:solidFill>
                <a:latin typeface="Pretendard"/>
              </a:rPr>
              <a:t>정보 부재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0" y="649224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8C939A"/>
                </a:solidFill>
                <a:latin typeface="Pretendard"/>
              </a:rPr>
              <a:t>요양·건강 정보 탐색 창구 없음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01200" y="576072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4ABAEB"/>
                </a:solidFill>
                <a:latin typeface="Pretendard"/>
              </a:rPr>
              <a:t>03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601200" y="612648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1E2A3A"/>
                </a:solidFill>
                <a:latin typeface="Pretendard"/>
              </a:rPr>
              <a:t>긴급 대응 불가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601200" y="649224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8C939A"/>
                </a:solidFill>
                <a:latin typeface="Pretendard"/>
              </a:rPr>
              <a:t>응급 상황 시 보호자 연락 지연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2743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8C939A"/>
                </a:solidFill>
                <a:latin typeface="Pretendard"/>
              </a:rPr>
              <a:t>디지털콘텐츠제작03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258800" y="7589520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>
                <a:solidFill>
                  <a:srgbClr val="8C939A"/>
                </a:solidFill>
                <a:latin typeface="Pretendard"/>
              </a:rPr>
              <a:t>03 / 19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9728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600" b="1">
                <a:solidFill>
                  <a:srgbClr val="4ABAEB"/>
                </a:solidFill>
                <a:latin typeface="Pretendard"/>
              </a:rPr>
              <a:t>이 사람의 </a:t>
            </a:r>
            <a:r>
              <a:rPr sz="3600" b="1">
                <a:solidFill>
                  <a:srgbClr val="1E2A3A"/>
                </a:solidFill>
                <a:latin typeface="Pretendard"/>
              </a:rPr>
              <a:t>이야기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82880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8C939A"/>
                </a:solidFill>
                <a:latin typeface="Pretendard"/>
              </a:rPr>
              <a:t>장기요양 보호자 117만 명 중 가장 많은 유형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371600" y="2560320"/>
            <a:ext cx="11887200" cy="4754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0C0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1828800" y="2926080"/>
            <a:ext cx="2286000" cy="2743200"/>
          </a:xfrm>
          <a:prstGeom prst="round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828800" y="384048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C0C0C0"/>
                </a:solidFill>
                <a:latin typeface="Pretendard"/>
              </a:rPr>
              <a:t>[사진]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0" y="292608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1E2A3A"/>
                </a:solidFill>
                <a:latin typeface="Pretendard"/>
              </a:rPr>
              <a:t>김미영 (52세)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0" y="356616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8C939A"/>
                </a:solidFill>
                <a:latin typeface="Pretendard"/>
              </a:rPr>
              <a:t>중견기업 과장, 맞벌이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0" y="4114800"/>
            <a:ext cx="8229600" cy="914400"/>
          </a:xfrm>
          <a:prstGeom prst="roundRect">
            <a:avLst/>
          </a:prstGeom>
          <a:solidFill>
            <a:srgbClr val="F0F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846320" y="4206240"/>
            <a:ext cx="7772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4A7FBF"/>
                </a:solidFill>
                <a:latin typeface="Pretendard"/>
              </a:rPr>
              <a:t>"퇴근하고 전화하면 안 받을 때가 많아요.
그때 제일 불안합니다"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0" y="530352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4ABAEB"/>
                </a:solidFill>
                <a:latin typeface="Pretendard"/>
              </a:rPr>
              <a:t>상황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760720" y="530352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E2A3A"/>
                </a:solidFill>
                <a:latin typeface="Pretendard"/>
              </a:rPr>
              <a:t>치매 초기 어머니(78세)를 6개월 전 요양원에 모심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0" y="571500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4ABAEB"/>
                </a:solidFill>
                <a:latin typeface="Pretendard"/>
              </a:rPr>
              <a:t>목표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760720" y="571500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E2A3A"/>
                </a:solidFill>
                <a:latin typeface="Pretendard"/>
              </a:rPr>
              <a:t>오늘 엄마가 괜찮은지 알고 싶다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0" y="612648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4ABAEB"/>
                </a:solidFill>
                <a:latin typeface="Pretendard"/>
              </a:rPr>
              <a:t>불만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760720" y="612648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E2A3A"/>
                </a:solidFill>
                <a:latin typeface="Pretendard"/>
              </a:rPr>
              <a:t>전화 연결 안 됨 · 비용 복잡 · 정보 없음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0" y="65379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4ABAEB"/>
                </a:solidFill>
                <a:latin typeface="Pretendard"/>
              </a:rPr>
              <a:t>기술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760720" y="653796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E2A3A"/>
                </a:solidFill>
                <a:latin typeface="Pretendard"/>
              </a:rPr>
              <a:t>카카오톡, 토스, 배민 일상 사용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2743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8C939A"/>
                </a:solidFill>
                <a:latin typeface="Pretendard"/>
              </a:rPr>
              <a:t>디지털콘텐츠제작03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258800" y="7589520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>
                <a:solidFill>
                  <a:srgbClr val="8C939A"/>
                </a:solidFill>
                <a:latin typeface="Pretendard"/>
              </a:rPr>
              <a:t>04 / 19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9728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600" b="1">
                <a:solidFill>
                  <a:srgbClr val="4ABAEB"/>
                </a:solidFill>
                <a:latin typeface="Pretendard"/>
              </a:rPr>
              <a:t>지금 </a:t>
            </a:r>
            <a:r>
              <a:rPr sz="3600" b="1">
                <a:solidFill>
                  <a:srgbClr val="1E2A3A"/>
                </a:solidFill>
                <a:latin typeface="Pretendard"/>
              </a:rPr>
              <a:t>김미영의 하루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8288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8C939A"/>
                </a:solidFill>
                <a:latin typeface="Pretendard"/>
              </a:rPr>
              <a:t>하루안부가 없는 지금, 감정은 계속 떨어집니다</a:t>
            </a:r>
          </a:p>
        </p:txBody>
      </p:sp>
      <p:sp>
        <p:nvSpPr>
          <p:cNvPr id="6" name="Oval 5"/>
          <p:cNvSpPr/>
          <p:nvPr/>
        </p:nvSpPr>
        <p:spPr>
          <a:xfrm>
            <a:off x="2011680" y="3749039"/>
            <a:ext cx="731520" cy="731520"/>
          </a:xfrm>
          <a:prstGeom prst="ellipse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828800" y="3840480"/>
            <a:ext cx="1097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>
                <a:solidFill>
                  <a:srgbClr val="1E2A3A"/>
                </a:solidFill>
                <a:latin typeface="Pretendard"/>
              </a:rPr>
              <a:t>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292608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1E2A3A"/>
                </a:solidFill>
                <a:latin typeface="Pretendard"/>
              </a:rPr>
              <a:t>입소 결정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3291840"/>
            <a:ext cx="20116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8C939A"/>
                </a:solidFill>
                <a:latin typeface="Pretendard"/>
              </a:rPr>
              <a:t>요양원 검색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371600" y="4754880"/>
            <a:ext cx="2011680" cy="914400"/>
          </a:xfrm>
          <a:prstGeom prst="round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463040" y="4846320"/>
            <a:ext cx="1828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8C939A"/>
                </a:solidFill>
                <a:latin typeface="Pretendard"/>
              </a:rPr>
              <a:t>어디가 좋은지
모르겠다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71600" y="585216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8C939A"/>
                </a:solidFill>
                <a:latin typeface="Pretendard"/>
              </a:rPr>
              <a:t>2/5</a:t>
            </a:r>
          </a:p>
        </p:txBody>
      </p:sp>
      <p:sp>
        <p:nvSpPr>
          <p:cNvPr id="13" name="Oval 12"/>
          <p:cNvSpPr/>
          <p:nvPr/>
        </p:nvSpPr>
        <p:spPr>
          <a:xfrm>
            <a:off x="4480560" y="3749039"/>
            <a:ext cx="731520" cy="731520"/>
          </a:xfrm>
          <a:prstGeom prst="ellipse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297680" y="3840480"/>
            <a:ext cx="1097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>
                <a:solidFill>
                  <a:srgbClr val="1E2A3A"/>
                </a:solidFill>
                <a:latin typeface="Pretendard"/>
              </a:rPr>
              <a:t>😟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840480" y="292608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1E2A3A"/>
                </a:solidFill>
                <a:latin typeface="Pretendard"/>
              </a:rPr>
              <a:t>일상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840480" y="3291840"/>
            <a:ext cx="20116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8C939A"/>
                </a:solidFill>
                <a:latin typeface="Pretendard"/>
              </a:rPr>
              <a:t>퇴근 후 전화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840480" y="4754880"/>
            <a:ext cx="2011680" cy="914400"/>
          </a:xfrm>
          <a:prstGeom prst="round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931920" y="4846320"/>
            <a:ext cx="1828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8C939A"/>
                </a:solidFill>
                <a:latin typeface="Pretendard"/>
              </a:rPr>
              <a:t>오늘은
괜찮으신가...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840480" y="585216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8C939A"/>
                </a:solidFill>
                <a:latin typeface="Pretendard"/>
              </a:rPr>
              <a:t>2/5</a:t>
            </a:r>
          </a:p>
        </p:txBody>
      </p:sp>
      <p:sp>
        <p:nvSpPr>
          <p:cNvPr id="20" name="Oval 19"/>
          <p:cNvSpPr/>
          <p:nvPr/>
        </p:nvSpPr>
        <p:spPr>
          <a:xfrm>
            <a:off x="6949440" y="3749039"/>
            <a:ext cx="731520" cy="731520"/>
          </a:xfrm>
          <a:prstGeom prst="ellipse">
            <a:avLst/>
          </a:prstGeom>
          <a:solidFill>
            <a:srgbClr val="FFEB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766560" y="3840480"/>
            <a:ext cx="1097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>
                <a:solidFill>
                  <a:srgbClr val="1E2A3A"/>
                </a:solidFill>
                <a:latin typeface="Pretendard"/>
              </a:rPr>
              <a:t>😤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09360" y="292608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1E2A3A"/>
                </a:solidFill>
                <a:latin typeface="Pretendard"/>
              </a:rPr>
              <a:t>궁금할 때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09360" y="3291840"/>
            <a:ext cx="20116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8C939A"/>
                </a:solidFill>
                <a:latin typeface="Pretendard"/>
              </a:rPr>
              <a:t>전화 시도
(안 받음)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309360" y="4754880"/>
            <a:ext cx="2011680" cy="914400"/>
          </a:xfrm>
          <a:prstGeom prst="round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00800" y="4846320"/>
            <a:ext cx="1828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8C939A"/>
                </a:solidFill>
                <a:latin typeface="Pretendard"/>
              </a:rPr>
              <a:t>왜 안 받지?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309360" y="585216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E53935"/>
                </a:solidFill>
                <a:latin typeface="Pretendard"/>
              </a:rPr>
              <a:t>1/5</a:t>
            </a:r>
          </a:p>
        </p:txBody>
      </p:sp>
      <p:sp>
        <p:nvSpPr>
          <p:cNvPr id="27" name="Oval 26"/>
          <p:cNvSpPr/>
          <p:nvPr/>
        </p:nvSpPr>
        <p:spPr>
          <a:xfrm>
            <a:off x="9418320" y="3749039"/>
            <a:ext cx="731520" cy="731520"/>
          </a:xfrm>
          <a:prstGeom prst="ellipse">
            <a:avLst/>
          </a:prstGeom>
          <a:solidFill>
            <a:srgbClr val="FFEB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235440" y="3840480"/>
            <a:ext cx="1097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>
                <a:solidFill>
                  <a:srgbClr val="1E2A3A"/>
                </a:solidFill>
                <a:latin typeface="Pretendard"/>
              </a:rPr>
              <a:t>😱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778240" y="292608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1E2A3A"/>
                </a:solidFill>
                <a:latin typeface="Pretendard"/>
              </a:rPr>
              <a:t>긴급 상황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778240" y="3291840"/>
            <a:ext cx="20116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8C939A"/>
                </a:solidFill>
                <a:latin typeface="Pretendard"/>
              </a:rPr>
              <a:t>전화 대기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8778240" y="4754880"/>
            <a:ext cx="2011680" cy="914400"/>
          </a:xfrm>
          <a:prstGeom prst="round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869680" y="4846320"/>
            <a:ext cx="1828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8C939A"/>
                </a:solidFill>
                <a:latin typeface="Pretendard"/>
              </a:rPr>
              <a:t>심장이 철렁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778240" y="585216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E53935"/>
                </a:solidFill>
                <a:latin typeface="Pretendard"/>
              </a:rPr>
              <a:t>1/5</a:t>
            </a:r>
          </a:p>
        </p:txBody>
      </p:sp>
      <p:sp>
        <p:nvSpPr>
          <p:cNvPr id="34" name="Oval 33"/>
          <p:cNvSpPr/>
          <p:nvPr/>
        </p:nvSpPr>
        <p:spPr>
          <a:xfrm>
            <a:off x="11887200" y="3749039"/>
            <a:ext cx="731520" cy="731520"/>
          </a:xfrm>
          <a:prstGeom prst="ellipse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11704320" y="3840480"/>
            <a:ext cx="1097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>
                <a:solidFill>
                  <a:srgbClr val="1E2A3A"/>
                </a:solidFill>
                <a:latin typeface="Pretendard"/>
              </a:rPr>
              <a:t>😵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1247120" y="292608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1E2A3A"/>
                </a:solidFill>
                <a:latin typeface="Pretendard"/>
              </a:rPr>
              <a:t>비용/행정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1247120" y="3291840"/>
            <a:ext cx="20116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8C939A"/>
                </a:solidFill>
                <a:latin typeface="Pretendard"/>
              </a:rPr>
              <a:t>청구서 확인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11247120" y="4754880"/>
            <a:ext cx="2011680" cy="914400"/>
          </a:xfrm>
          <a:prstGeom prst="round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1338560" y="4846320"/>
            <a:ext cx="1828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8C939A"/>
                </a:solidFill>
                <a:latin typeface="Pretendard"/>
              </a:rPr>
              <a:t>이게 맞는
건지...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1247120" y="585216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8C939A"/>
                </a:solidFill>
                <a:latin typeface="Pretendard"/>
              </a:rPr>
              <a:t>2/5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14400" y="6858000"/>
            <a:ext cx="1280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E53935"/>
                </a:solidFill>
                <a:latin typeface="Pretendard"/>
              </a:rPr>
              <a:t>5단계 중 4단계에서 부정 감정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2743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8C939A"/>
                </a:solidFill>
                <a:latin typeface="Pretendard"/>
              </a:rPr>
              <a:t>디지털콘텐츠제작03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258800" y="7589520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>
                <a:solidFill>
                  <a:srgbClr val="8C939A"/>
                </a:solidFill>
                <a:latin typeface="Pretendard"/>
              </a:rPr>
              <a:t>05 / 19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91440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1E2A3A"/>
                </a:solidFill>
                <a:latin typeface="Pretendard"/>
              </a:rPr>
              <a:t>세 가지 문제, 그러나 해결책은 </a:t>
            </a:r>
            <a:r>
              <a:rPr sz="3200" b="1">
                <a:solidFill>
                  <a:srgbClr val="4ABAEB"/>
                </a:solidFill>
                <a:latin typeface="Pretendard"/>
              </a:rPr>
              <a:t>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64592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8C939A"/>
                </a:solidFill>
                <a:latin typeface="Pretendard"/>
              </a:rPr>
              <a:t>숫자로 보는 돌봄의 현실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31520" y="2743200"/>
            <a:ext cx="7040880" cy="0"/>
          </a:xfrm>
          <a:prstGeom prst="line">
            <a:avLst/>
          </a:prstGeom>
          <a:ln w="6350">
            <a:solidFill>
              <a:srgbClr val="C0C0C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31520" y="283464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4ABAEB"/>
                </a:solidFill>
                <a:latin typeface="Pretendard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283464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E2A3A"/>
                </a:solidFill>
                <a:latin typeface="Pretendard"/>
              </a:rPr>
              <a:t>전국 요양원 4,640개소, 68%가 면회 제한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3246120"/>
            <a:ext cx="6400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8C939A"/>
                </a:solidFill>
                <a:latin typeface="Pretendard"/>
              </a:rPr>
              <a:t>보호자가 직접 확인할 수 없는 구조 — 보건복지부 2024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731520" y="4114800"/>
            <a:ext cx="7040880" cy="0"/>
          </a:xfrm>
          <a:prstGeom prst="line">
            <a:avLst/>
          </a:prstGeom>
          <a:ln w="6350">
            <a:solidFill>
              <a:srgbClr val="C0C0C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731520" y="420624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4ABAEB"/>
                </a:solidFill>
                <a:latin typeface="Pretendard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71600" y="420624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E2A3A"/>
                </a:solidFill>
                <a:latin typeface="Pretendard"/>
              </a:rPr>
              <a:t>보호자 심각한 스트레스 46.3%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71600" y="4617720"/>
            <a:ext cx="6400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8C939A"/>
                </a:solidFill>
                <a:latin typeface="Pretendard"/>
              </a:rPr>
              <a:t>2022년 36.0% → 2024년 46.3% 급증 — 보건복지부 2024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731520" y="5486400"/>
            <a:ext cx="7040880" cy="0"/>
          </a:xfrm>
          <a:prstGeom prst="line">
            <a:avLst/>
          </a:prstGeom>
          <a:ln w="6350">
            <a:solidFill>
              <a:srgbClr val="C0C0C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731520" y="557784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4ABAEB"/>
                </a:solidFill>
                <a:latin typeface="Pretendard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" y="557784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E2A3A"/>
                </a:solidFill>
                <a:latin typeface="Pretendard"/>
              </a:rPr>
              <a:t>요양·건강 정보 통합 플랫폼 부재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371600" y="5989320"/>
            <a:ext cx="6400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8C939A"/>
                </a:solidFill>
                <a:latin typeface="Pretendard"/>
              </a:rPr>
              <a:t>파편화된 정보, 보호자 의사결정 지원 창구 없음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731520" y="6858000"/>
            <a:ext cx="7040880" cy="0"/>
          </a:xfrm>
          <a:prstGeom prst="line">
            <a:avLst/>
          </a:prstGeom>
          <a:ln w="6350">
            <a:solidFill>
              <a:srgbClr val="C0C0C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9144000" y="3200400"/>
            <a:ext cx="45720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0" b="1">
                <a:solidFill>
                  <a:srgbClr val="4ABAEB"/>
                </a:solidFill>
                <a:latin typeface="Pretendard"/>
              </a:rPr>
              <a:t>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515600" y="502920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4ABAEB"/>
                </a:solidFill>
                <a:latin typeface="Pretendard"/>
              </a:rPr>
              <a:t>개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44000" y="5760720"/>
            <a:ext cx="4572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8C939A"/>
                </a:solidFill>
                <a:latin typeface="Pretendard"/>
              </a:rPr>
              <a:t>실시간 연결 플랫폼
국내 시장 부재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2743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8C939A"/>
                </a:solidFill>
                <a:latin typeface="Pretendard"/>
              </a:rPr>
              <a:t>디지털콘텐츠제작03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258800" y="7589520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>
                <a:solidFill>
                  <a:srgbClr val="8C939A"/>
                </a:solidFill>
                <a:latin typeface="Pretendard"/>
              </a:rPr>
              <a:t>06 / 19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91440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600" b="1">
                <a:solidFill>
                  <a:srgbClr val="1E2A3A"/>
                </a:solidFill>
                <a:latin typeface="Pretendard"/>
              </a:rPr>
              <a:t>하나의 앱, </a:t>
            </a:r>
            <a:r>
              <a:rPr sz="3600" b="1">
                <a:solidFill>
                  <a:srgbClr val="4ABAEB"/>
                </a:solidFill>
                <a:latin typeface="Pretendard"/>
              </a:rPr>
              <a:t>세 개의 역할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64592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8C939A"/>
                </a:solidFill>
                <a:latin typeface="Pretendard"/>
              </a:rPr>
              <a:t>역할에 따라 완전히 다른 UI를 제공하지만 앱은 하나입니다</a:t>
            </a:r>
          </a:p>
        </p:txBody>
      </p:sp>
      <p:sp>
        <p:nvSpPr>
          <p:cNvPr id="6" name="Oval 5"/>
          <p:cNvSpPr/>
          <p:nvPr/>
        </p:nvSpPr>
        <p:spPr>
          <a:xfrm>
            <a:off x="1828800" y="3200400"/>
            <a:ext cx="3200400" cy="32004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C0C0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011680" y="3657600"/>
            <a:ext cx="2926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8C939A"/>
                </a:solidFill>
                <a:latin typeface="Pretendard"/>
              </a:rPr>
              <a:t>Family · Patient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011680" y="4023360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1E2A3A"/>
                </a:solidFill>
                <a:latin typeface="Pretendard"/>
              </a:rPr>
              <a:t>보호자 · 환자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011680" y="4754880"/>
            <a:ext cx="2926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8C939A"/>
                </a:solidFill>
                <a:latin typeface="Pretendard"/>
              </a:rPr>
              <a:t>케어 현황 확인
처방전 열람, 일과 확인</a:t>
            </a:r>
          </a:p>
        </p:txBody>
      </p:sp>
      <p:sp>
        <p:nvSpPr>
          <p:cNvPr id="10" name="Oval 9"/>
          <p:cNvSpPr/>
          <p:nvPr/>
        </p:nvSpPr>
        <p:spPr>
          <a:xfrm>
            <a:off x="5943600" y="3200400"/>
            <a:ext cx="3200400" cy="3200400"/>
          </a:xfrm>
          <a:prstGeom prst="ellipse">
            <a:avLst/>
          </a:prstGeom>
          <a:solidFill>
            <a:srgbClr val="4ABA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126480" y="4023360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Pretendard"/>
              </a:rPr>
              <a:t>하루안부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126480" y="4754880"/>
            <a:ext cx="2926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CCEEFF"/>
                </a:solidFill>
                <a:latin typeface="Pretendard"/>
              </a:rPr>
              <a:t>AI 케어 소통 허브</a:t>
            </a:r>
          </a:p>
        </p:txBody>
      </p:sp>
      <p:sp>
        <p:nvSpPr>
          <p:cNvPr id="13" name="Oval 12"/>
          <p:cNvSpPr/>
          <p:nvPr/>
        </p:nvSpPr>
        <p:spPr>
          <a:xfrm>
            <a:off x="10058400" y="3200400"/>
            <a:ext cx="3200400" cy="32004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C0C0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241280" y="3657600"/>
            <a:ext cx="2926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8C939A"/>
                </a:solidFill>
                <a:latin typeface="Pretendard"/>
              </a:rPr>
              <a:t>Medical Staff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241280" y="4023360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1E2A3A"/>
                </a:solidFill>
                <a:latin typeface="Pretendard"/>
              </a:rPr>
              <a:t>의료진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241280" y="4754880"/>
            <a:ext cx="2926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8C939A"/>
                </a:solidFill>
                <a:latin typeface="Pretendard"/>
              </a:rPr>
              <a:t>케어 기록, 처방전 작성
보호자 소통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0" y="45720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>
                <a:solidFill>
                  <a:srgbClr val="8C939A"/>
                </a:solidFill>
                <a:latin typeface="Pretendard"/>
              </a:rPr>
              <a:t>↔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44000" y="45720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>
                <a:solidFill>
                  <a:srgbClr val="8C939A"/>
                </a:solidFill>
                <a:latin typeface="Pretendard"/>
              </a:rPr>
              <a:t>↔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2743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8C939A"/>
                </a:solidFill>
                <a:latin typeface="Pretendard"/>
              </a:rPr>
              <a:t>디지털콘텐츠제작03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258800" y="7589520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>
                <a:solidFill>
                  <a:srgbClr val="8C939A"/>
                </a:solidFill>
                <a:latin typeface="Pretendard"/>
              </a:rPr>
              <a:t>07 / 19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91440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600" b="1">
                <a:solidFill>
                  <a:srgbClr val="4ABAEB"/>
                </a:solidFill>
                <a:latin typeface="Pretendard"/>
              </a:rPr>
              <a:t>진짜 문제는 </a:t>
            </a:r>
            <a:r>
              <a:rPr sz="3600" b="1">
                <a:solidFill>
                  <a:srgbClr val="1E2A3A"/>
                </a:solidFill>
                <a:latin typeface="Pretendard"/>
              </a:rPr>
              <a:t>이것입니다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64592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8C939A"/>
                </a:solidFill>
                <a:latin typeface="Pretendard"/>
              </a:rPr>
              <a:t>보호자가 말하는 것과, 진짜 원하는 것은 다릅니다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14400" y="2560320"/>
            <a:ext cx="4572000" cy="822960"/>
          </a:xfrm>
          <a:prstGeom prst="round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88720" y="2743200"/>
            <a:ext cx="4114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8C939A"/>
                </a:solidFill>
                <a:latin typeface="Pretendard"/>
              </a:rPr>
              <a:t>요양원에 전화하고 싶다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0" y="2651760"/>
            <a:ext cx="914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>
                <a:solidFill>
                  <a:srgbClr val="4ABAEB"/>
                </a:solidFill>
                <a:latin typeface="Pretendard"/>
              </a:rPr>
              <a:t>→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858000" y="2560320"/>
            <a:ext cx="6400800" cy="822960"/>
          </a:xfrm>
          <a:prstGeom prst="roundRect">
            <a:avLst/>
          </a:prstGeom>
          <a:solidFill>
            <a:srgbClr val="F0F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132320" y="2743200"/>
            <a:ext cx="5943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4A7FBF"/>
                </a:solidFill>
                <a:latin typeface="Pretendard"/>
              </a:rPr>
              <a:t>오늘 엄마가 괜찮은지 확인하고 싶다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14400" y="3657600"/>
            <a:ext cx="4572000" cy="822960"/>
          </a:xfrm>
          <a:prstGeom prst="round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88720" y="3840480"/>
            <a:ext cx="4114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8C939A"/>
                </a:solidFill>
                <a:latin typeface="Pretendard"/>
              </a:rPr>
              <a:t>간호사한테 물어보고 싶다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669280" y="3749039"/>
            <a:ext cx="914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>
                <a:solidFill>
                  <a:srgbClr val="4ABAEB"/>
                </a:solidFill>
                <a:latin typeface="Pretendard"/>
              </a:rPr>
              <a:t>→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858000" y="3657600"/>
            <a:ext cx="6400800" cy="822960"/>
          </a:xfrm>
          <a:prstGeom prst="roundRect">
            <a:avLst/>
          </a:prstGeom>
          <a:solidFill>
            <a:srgbClr val="F0F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132320" y="3840480"/>
            <a:ext cx="5943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4A7FBF"/>
                </a:solidFill>
                <a:latin typeface="Pretendard"/>
              </a:rPr>
              <a:t>불안한 마음을 해소하고 싶다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14400" y="4754879"/>
            <a:ext cx="4572000" cy="822960"/>
          </a:xfrm>
          <a:prstGeom prst="round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188720" y="4937759"/>
            <a:ext cx="4114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8C939A"/>
                </a:solidFill>
                <a:latin typeface="Pretendard"/>
              </a:rPr>
              <a:t>비용을 알고 싶다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669280" y="4846319"/>
            <a:ext cx="914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>
                <a:solidFill>
                  <a:srgbClr val="4ABAEB"/>
                </a:solidFill>
                <a:latin typeface="Pretendard"/>
              </a:rPr>
              <a:t>→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858000" y="4754879"/>
            <a:ext cx="6400800" cy="822960"/>
          </a:xfrm>
          <a:prstGeom prst="roundRect">
            <a:avLst/>
          </a:prstGeom>
          <a:solidFill>
            <a:srgbClr val="F0F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132320" y="4937759"/>
            <a:ext cx="5943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4A7FBF"/>
                </a:solidFill>
                <a:latin typeface="Pretendard"/>
              </a:rPr>
              <a:t>경제적 부담을 예측하고 싶다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14400" y="5852159"/>
            <a:ext cx="4572000" cy="822960"/>
          </a:xfrm>
          <a:prstGeom prst="round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188720" y="6035040"/>
            <a:ext cx="4114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8C939A"/>
                </a:solidFill>
                <a:latin typeface="Pretendard"/>
              </a:rPr>
              <a:t>응급 시 연락받고 싶다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669280" y="5943599"/>
            <a:ext cx="914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>
                <a:solidFill>
                  <a:srgbClr val="4ABAEB"/>
                </a:solidFill>
                <a:latin typeface="Pretendard"/>
              </a:rPr>
              <a:t>→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858000" y="5852159"/>
            <a:ext cx="6400800" cy="822960"/>
          </a:xfrm>
          <a:prstGeom prst="roundRect">
            <a:avLst/>
          </a:prstGeom>
          <a:solidFill>
            <a:srgbClr val="F0F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132320" y="6035040"/>
            <a:ext cx="5943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4A7FBF"/>
                </a:solidFill>
                <a:latin typeface="Pretendard"/>
              </a:rPr>
              <a:t>위험할 때 즉시 알림받고 싶다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14400" y="6858000"/>
            <a:ext cx="12801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>
                <a:solidFill>
                  <a:srgbClr val="1E2A3A"/>
                </a:solidFill>
                <a:latin typeface="Pretendard"/>
              </a:rPr>
              <a:t>보호자가 진짜 원하는 건 전화가 아닙니다. </a:t>
            </a:r>
            <a:r>
              <a:rPr sz="2200" b="1">
                <a:solidFill>
                  <a:srgbClr val="4ABAEB"/>
                </a:solidFill>
                <a:latin typeface="Pretendard"/>
              </a:rPr>
              <a:t>안심</a:t>
            </a:r>
            <a:r>
              <a:rPr sz="2200" b="1">
                <a:solidFill>
                  <a:srgbClr val="1E2A3A"/>
                </a:solidFill>
                <a:latin typeface="Pretendard"/>
              </a:rPr>
              <a:t>입니다.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2743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8C939A"/>
                </a:solidFill>
                <a:latin typeface="Pretendard"/>
              </a:rPr>
              <a:t>디지털콘텐츠제작03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258800" y="7589520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>
                <a:solidFill>
                  <a:srgbClr val="8C939A"/>
                </a:solidFill>
                <a:latin typeface="Pretendard"/>
              </a:rPr>
              <a:t>08 / 19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9728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600" b="1">
                <a:solidFill>
                  <a:srgbClr val="1E2A3A"/>
                </a:solidFill>
                <a:latin typeface="Pretendard"/>
              </a:rPr>
              <a:t>김미영의 하루가 </a:t>
            </a:r>
            <a:r>
              <a:rPr sz="3600" b="1">
                <a:solidFill>
                  <a:srgbClr val="4ABAEB"/>
                </a:solidFill>
                <a:latin typeface="Pretendard"/>
              </a:rPr>
              <a:t>바뀝니다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8288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8C939A"/>
                </a:solidFill>
                <a:latin typeface="Pretendard"/>
              </a:rPr>
              <a:t>하루안부와 함께하는 하루</a:t>
            </a:r>
          </a:p>
        </p:txBody>
      </p:sp>
      <p:sp>
        <p:nvSpPr>
          <p:cNvPr id="6" name="Oval 5"/>
          <p:cNvSpPr/>
          <p:nvPr/>
        </p:nvSpPr>
        <p:spPr>
          <a:xfrm>
            <a:off x="2011680" y="3749039"/>
            <a:ext cx="731520" cy="731520"/>
          </a:xfrm>
          <a:prstGeom prst="ellipse">
            <a:avLst/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828800" y="3840480"/>
            <a:ext cx="1097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>
                <a:solidFill>
                  <a:srgbClr val="1E2A3A"/>
                </a:solidFill>
                <a:latin typeface="Pretendard"/>
              </a:rPr>
              <a:t>😊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292608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1E2A3A"/>
                </a:solidFill>
                <a:latin typeface="Pretendard"/>
              </a:rPr>
              <a:t>입소 결정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3291840"/>
            <a:ext cx="20116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8C939A"/>
                </a:solidFill>
                <a:latin typeface="Pretendard"/>
              </a:rPr>
              <a:t>AI로 요양원
검색+비용 계산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371600" y="4754880"/>
            <a:ext cx="2011680" cy="914400"/>
          </a:xfrm>
          <a:prstGeom prst="roundRect">
            <a:avLst/>
          </a:prstGeom>
          <a:solidFill>
            <a:srgbClr val="F0F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463040" y="4846320"/>
            <a:ext cx="1828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4A7FBF"/>
                </a:solidFill>
                <a:latin typeface="Pretendard"/>
              </a:rPr>
              <a:t>AI가 찾아주니
편하다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71600" y="585216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4CAF50"/>
                </a:solidFill>
                <a:latin typeface="Pretendard"/>
              </a:rPr>
              <a:t>4/5</a:t>
            </a:r>
          </a:p>
        </p:txBody>
      </p:sp>
      <p:sp>
        <p:nvSpPr>
          <p:cNvPr id="13" name="Oval 12"/>
          <p:cNvSpPr/>
          <p:nvPr/>
        </p:nvSpPr>
        <p:spPr>
          <a:xfrm>
            <a:off x="4480560" y="3749039"/>
            <a:ext cx="731520" cy="731520"/>
          </a:xfrm>
          <a:prstGeom prst="ellipse">
            <a:avLst/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297680" y="3840480"/>
            <a:ext cx="1097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>
                <a:solidFill>
                  <a:srgbClr val="1E2A3A"/>
                </a:solidFill>
                <a:latin typeface="Pretendard"/>
              </a:rPr>
              <a:t>😌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840480" y="292608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1E2A3A"/>
                </a:solidFill>
                <a:latin typeface="Pretendard"/>
              </a:rPr>
              <a:t>일상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840480" y="3291840"/>
            <a:ext cx="20116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8C939A"/>
                </a:solidFill>
                <a:latin typeface="Pretendard"/>
              </a:rPr>
              <a:t>대시보드로
실시간 확인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840480" y="4754880"/>
            <a:ext cx="2011680" cy="914400"/>
          </a:xfrm>
          <a:prstGeom prst="roundRect">
            <a:avLst/>
          </a:prstGeom>
          <a:solidFill>
            <a:srgbClr val="F0F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931920" y="4846320"/>
            <a:ext cx="1828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4A7FBF"/>
                </a:solidFill>
                <a:latin typeface="Pretendard"/>
              </a:rPr>
              <a:t>앱 열면
바로 보여요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840480" y="585216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4CAF50"/>
                </a:solidFill>
                <a:latin typeface="Pretendard"/>
              </a:rPr>
              <a:t>4/5</a:t>
            </a:r>
          </a:p>
        </p:txBody>
      </p:sp>
      <p:sp>
        <p:nvSpPr>
          <p:cNvPr id="20" name="Oval 19"/>
          <p:cNvSpPr/>
          <p:nvPr/>
        </p:nvSpPr>
        <p:spPr>
          <a:xfrm>
            <a:off x="6949440" y="3749039"/>
            <a:ext cx="731520" cy="731520"/>
          </a:xfrm>
          <a:prstGeom prst="ellipse">
            <a:avLst/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766560" y="3840480"/>
            <a:ext cx="1097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>
                <a:solidFill>
                  <a:srgbClr val="1E2A3A"/>
                </a:solidFill>
                <a:latin typeface="Pretendard"/>
              </a:rPr>
              <a:t>😊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09360" y="292608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1E2A3A"/>
                </a:solidFill>
                <a:latin typeface="Pretendard"/>
              </a:rPr>
              <a:t>궁금할 때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09360" y="3291840"/>
            <a:ext cx="20116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8C939A"/>
                </a:solidFill>
                <a:latin typeface="Pretendard"/>
              </a:rPr>
              <a:t>AI 리포트
+ 채팅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309360" y="4754880"/>
            <a:ext cx="2011680" cy="914400"/>
          </a:xfrm>
          <a:prstGeom prst="roundRect">
            <a:avLst/>
          </a:prstGeom>
          <a:solidFill>
            <a:srgbClr val="F0F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00800" y="4846320"/>
            <a:ext cx="1828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4A7FBF"/>
                </a:solidFill>
                <a:latin typeface="Pretendard"/>
              </a:rPr>
              <a:t>매일 저녁
리포트가 와요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309360" y="585216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4CAF50"/>
                </a:solidFill>
                <a:latin typeface="Pretendard"/>
              </a:rPr>
              <a:t>4/5</a:t>
            </a:r>
          </a:p>
        </p:txBody>
      </p:sp>
      <p:sp>
        <p:nvSpPr>
          <p:cNvPr id="27" name="Oval 26"/>
          <p:cNvSpPr/>
          <p:nvPr/>
        </p:nvSpPr>
        <p:spPr>
          <a:xfrm>
            <a:off x="9418320" y="3749039"/>
            <a:ext cx="731520" cy="731520"/>
          </a:xfrm>
          <a:prstGeom prst="ellipse">
            <a:avLst/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235440" y="3840480"/>
            <a:ext cx="1097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>
                <a:solidFill>
                  <a:srgbClr val="1E2A3A"/>
                </a:solidFill>
                <a:latin typeface="Pretendard"/>
              </a:rPr>
              <a:t>😮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778240" y="292608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1E2A3A"/>
                </a:solidFill>
                <a:latin typeface="Pretendard"/>
              </a:rPr>
              <a:t>긴급 상황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778240" y="3291840"/>
            <a:ext cx="20116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8C939A"/>
                </a:solidFill>
                <a:latin typeface="Pretendard"/>
              </a:rPr>
              <a:t>SOS 30초
푸시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8778240" y="4754880"/>
            <a:ext cx="2011680" cy="914400"/>
          </a:xfrm>
          <a:prstGeom prst="roundRect">
            <a:avLst/>
          </a:prstGeom>
          <a:solidFill>
            <a:srgbClr val="F0F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869680" y="4846320"/>
            <a:ext cx="1828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4A7FBF"/>
                </a:solidFill>
                <a:latin typeface="Pretendard"/>
              </a:rPr>
              <a:t>바로 알림이
와요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778240" y="585216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4CAF50"/>
                </a:solidFill>
                <a:latin typeface="Pretendard"/>
              </a:rPr>
              <a:t>3/5</a:t>
            </a:r>
          </a:p>
        </p:txBody>
      </p:sp>
      <p:sp>
        <p:nvSpPr>
          <p:cNvPr id="34" name="Oval 33"/>
          <p:cNvSpPr/>
          <p:nvPr/>
        </p:nvSpPr>
        <p:spPr>
          <a:xfrm>
            <a:off x="11887200" y="3749039"/>
            <a:ext cx="731520" cy="731520"/>
          </a:xfrm>
          <a:prstGeom prst="ellipse">
            <a:avLst/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11704320" y="3840480"/>
            <a:ext cx="1097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>
                <a:solidFill>
                  <a:srgbClr val="1E2A3A"/>
                </a:solidFill>
                <a:latin typeface="Pretendard"/>
              </a:rPr>
              <a:t>😊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1247120" y="292608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1E2A3A"/>
                </a:solidFill>
                <a:latin typeface="Pretendard"/>
              </a:rPr>
              <a:t>비용/행정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1247120" y="3291840"/>
            <a:ext cx="20116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8C939A"/>
                </a:solidFill>
                <a:latin typeface="Pretendard"/>
              </a:rPr>
              <a:t>AI 요양비
계산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11247120" y="4754880"/>
            <a:ext cx="2011680" cy="914400"/>
          </a:xfrm>
          <a:prstGeom prst="roundRect">
            <a:avLst/>
          </a:prstGeom>
          <a:solidFill>
            <a:srgbClr val="F0F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1338560" y="4846320"/>
            <a:ext cx="1828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4A7FBF"/>
                </a:solidFill>
                <a:latin typeface="Pretendard"/>
              </a:rPr>
              <a:t>한 번에
비교해줘요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1247120" y="585216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4CAF50"/>
                </a:solidFill>
                <a:latin typeface="Pretendard"/>
              </a:rPr>
              <a:t>4/5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14400" y="6858000"/>
            <a:ext cx="12801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0">
                <a:solidFill>
                  <a:srgbClr val="1E2A3A"/>
                </a:solidFill>
                <a:latin typeface="Pretendard"/>
              </a:rPr>
              <a:t>평균 감정 1.6점 → </a:t>
            </a:r>
            <a:r>
              <a:rPr sz="1800" b="1">
                <a:solidFill>
                  <a:srgbClr val="4ABAEB"/>
                </a:solidFill>
                <a:latin typeface="Pretendard"/>
              </a:rPr>
              <a:t>3.8점</a:t>
            </a:r>
            <a:r>
              <a:rPr sz="1800" b="0">
                <a:solidFill>
                  <a:srgbClr val="8C939A"/>
                </a:solidFill>
                <a:latin typeface="Pretendard"/>
              </a:rPr>
              <a:t> (+2.2점 상승)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2743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8C939A"/>
                </a:solidFill>
                <a:latin typeface="Pretendard"/>
              </a:rPr>
              <a:t>디지털콘텐츠제작03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258800" y="7589520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>
                <a:solidFill>
                  <a:srgbClr val="8C939A"/>
                </a:solidFill>
                <a:latin typeface="Pretendard"/>
              </a:rPr>
              <a:t>09 / 19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91440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600" b="1">
                <a:solidFill>
                  <a:srgbClr val="4ABAEB"/>
                </a:solidFill>
                <a:latin typeface="Pretendard"/>
              </a:rPr>
              <a:t>실시간 </a:t>
            </a:r>
            <a:r>
              <a:rPr sz="3600" b="1">
                <a:solidFill>
                  <a:srgbClr val="1E2A3A"/>
                </a:solidFill>
                <a:latin typeface="Pretendard"/>
              </a:rPr>
              <a:t>케어 공유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64592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8C939A"/>
                </a:solidFill>
                <a:latin typeface="Pretendard"/>
              </a:rPr>
              <a:t>의료진이 체크하면, 보호자가 바로 봅니다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0" y="2560320"/>
            <a:ext cx="5943600" cy="3200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0C0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0" y="265176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1E2A3A"/>
                </a:solidFill>
                <a:latin typeface="Pretendard"/>
              </a:rPr>
              <a:t>PC  의료진 체크리스트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8046720" y="3291840"/>
            <a:ext cx="5394960" cy="0"/>
          </a:xfrm>
          <a:prstGeom prst="line">
            <a:avLst/>
          </a:prstGeom>
          <a:ln w="6350">
            <a:solidFill>
              <a:srgbClr val="EEEEE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8229600" y="338328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E2A3A"/>
                </a:solidFill>
                <a:latin typeface="Pretendard"/>
              </a:rPr>
              <a:t>✅ 오전 투약 완료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344400" y="338328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>
                <a:solidFill>
                  <a:srgbClr val="8C939A"/>
                </a:solidFill>
                <a:latin typeface="Pretendard"/>
              </a:rPr>
              <a:t>09:00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8046720" y="3931920"/>
            <a:ext cx="5394960" cy="0"/>
          </a:xfrm>
          <a:prstGeom prst="line">
            <a:avLst/>
          </a:prstGeom>
          <a:ln w="6350">
            <a:solidFill>
              <a:srgbClr val="EEEEE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8229600" y="4023359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E2A3A"/>
                </a:solidFill>
                <a:latin typeface="Pretendard"/>
              </a:rPr>
              <a:t>✅ 혈압 측정 120/80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344400" y="4023359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>
                <a:solidFill>
                  <a:srgbClr val="8C939A"/>
                </a:solidFill>
                <a:latin typeface="Pretendard"/>
              </a:rPr>
              <a:t>09:30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8046720" y="4572000"/>
            <a:ext cx="5394960" cy="0"/>
          </a:xfrm>
          <a:prstGeom prst="line">
            <a:avLst/>
          </a:prstGeom>
          <a:ln w="6350">
            <a:solidFill>
              <a:srgbClr val="EEEEE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8229600" y="466344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E2A3A"/>
                </a:solidFill>
                <a:latin typeface="Pretendard"/>
              </a:rPr>
              <a:t>✅ 재활운동 30분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344400" y="466344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>
                <a:solidFill>
                  <a:srgbClr val="8C939A"/>
                </a:solidFill>
                <a:latin typeface="Pretendard"/>
              </a:rPr>
              <a:t>10:00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31520" y="4114800"/>
            <a:ext cx="6400800" cy="3200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0C0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420624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1E2A3A"/>
                </a:solidFill>
                <a:latin typeface="Pretendard"/>
              </a:rPr>
              <a:t>M  보호자 대시보드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97280" y="475488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E2A3A"/>
                </a:solidFill>
                <a:latin typeface="Pretendard"/>
              </a:rPr>
              <a:t>오늘 케어 현황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97280" y="530352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8C939A"/>
                </a:solidFill>
                <a:latin typeface="Pretendard"/>
              </a:rPr>
              <a:t>투약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2286000" y="5349240"/>
            <a:ext cx="4114800" cy="182880"/>
          </a:xfrm>
          <a:prstGeom prst="roundRect">
            <a:avLst/>
          </a:prstGeom>
          <a:solidFill>
            <a:srgbClr val="E0E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2286000" y="5349240"/>
            <a:ext cx="3520439" cy="182880"/>
          </a:xfrm>
          <a:prstGeom prst="roundRect">
            <a:avLst/>
          </a:prstGeom>
          <a:solidFill>
            <a:srgbClr val="4ABA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97280" y="576072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8C939A"/>
                </a:solidFill>
                <a:latin typeface="Pretendard"/>
              </a:rPr>
              <a:t>재활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2286000" y="5806440"/>
            <a:ext cx="4114800" cy="182880"/>
          </a:xfrm>
          <a:prstGeom prst="roundRect">
            <a:avLst/>
          </a:prstGeom>
          <a:solidFill>
            <a:srgbClr val="E0E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2286000" y="5806440"/>
            <a:ext cx="2560320" cy="182880"/>
          </a:xfrm>
          <a:prstGeom prst="roundRect">
            <a:avLst/>
          </a:prstGeom>
          <a:solidFill>
            <a:srgbClr val="4ABA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097280" y="621792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8C939A"/>
                </a:solidFill>
                <a:latin typeface="Pretendard"/>
              </a:rPr>
              <a:t>식사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2286000" y="6263640"/>
            <a:ext cx="4114800" cy="182880"/>
          </a:xfrm>
          <a:prstGeom prst="roundRect">
            <a:avLst/>
          </a:prstGeom>
          <a:solidFill>
            <a:srgbClr val="E0E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2286000" y="6263640"/>
            <a:ext cx="2240279" cy="182880"/>
          </a:xfrm>
          <a:prstGeom prst="roundRect">
            <a:avLst/>
          </a:prstGeom>
          <a:solidFill>
            <a:srgbClr val="4ABA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1097280" y="6675120"/>
            <a:ext cx="2286000" cy="365760"/>
          </a:xfrm>
          <a:prstGeom prst="roundRect">
            <a:avLst/>
          </a:prstGeom>
          <a:solidFill>
            <a:srgbClr val="FFEB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188720" y="6675120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E53935"/>
                </a:solidFill>
                <a:latin typeface="Pretendard"/>
              </a:rPr>
              <a:t>• SOS 긴급 알림 즉시 푸시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7772400" y="5943600"/>
            <a:ext cx="2286000" cy="457200"/>
          </a:xfrm>
          <a:prstGeom prst="roundRect">
            <a:avLst/>
          </a:prstGeom>
          <a:solidFill>
            <a:srgbClr val="F0F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863840" y="5943600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4ABAEB"/>
                </a:solidFill>
                <a:latin typeface="Pretendard"/>
              </a:rPr>
              <a:t>• 3초 이내 반영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772400" y="6583680"/>
            <a:ext cx="5486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8C939A"/>
                </a:solidFill>
                <a:latin typeface="Pretendard"/>
              </a:rPr>
              <a:t>Supabase Realtime 기반
페이지 새로고침 없이 즉시 업데이트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2743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8C939A"/>
                </a:solidFill>
                <a:latin typeface="Pretendard"/>
              </a:rPr>
              <a:t>디지털콘텐츠제작03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258800" y="7589520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>
                <a:solidFill>
                  <a:srgbClr val="8C939A"/>
                </a:solidFill>
                <a:latin typeface="Pretendard"/>
              </a:rPr>
              <a:t>10 / 19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91440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600" b="1">
                <a:solidFill>
                  <a:srgbClr val="E53935"/>
                </a:solidFill>
                <a:latin typeface="Pretendard"/>
              </a:rPr>
              <a:t>SOS </a:t>
            </a:r>
            <a:r>
              <a:rPr sz="3600" b="1">
                <a:solidFill>
                  <a:srgbClr val="1E2A3A"/>
                </a:solidFill>
                <a:latin typeface="Pretendard"/>
              </a:rPr>
              <a:t>긴급 알림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64592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8C939A"/>
                </a:solidFill>
                <a:latin typeface="Pretendard"/>
              </a:rPr>
              <a:t>응급 상황 발생 시, 30초 안에 보호자에게 도달합니다</a:t>
            </a:r>
          </a:p>
        </p:txBody>
      </p:sp>
      <p:sp>
        <p:nvSpPr>
          <p:cNvPr id="6" name="Oval 5"/>
          <p:cNvSpPr/>
          <p:nvPr/>
        </p:nvSpPr>
        <p:spPr>
          <a:xfrm>
            <a:off x="1828800" y="3474720"/>
            <a:ext cx="1188720" cy="1188720"/>
          </a:xfrm>
          <a:prstGeom prst="ellipse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828800" y="3657600"/>
            <a:ext cx="1188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0">
                <a:solidFill>
                  <a:srgbClr val="1E2A3A"/>
                </a:solidFill>
                <a:latin typeface="Pretendard"/>
              </a:rPr>
              <a:t>🚨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4846320"/>
            <a:ext cx="2103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1E2A3A"/>
                </a:solidFill>
                <a:latin typeface="Pretendard"/>
              </a:rPr>
              <a:t>의료진
SOS 버튼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383280" y="393192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>
                <a:solidFill>
                  <a:srgbClr val="C0C0C0"/>
                </a:solidFill>
                <a:latin typeface="Pretendard"/>
              </a:rPr>
              <a:t>→</a:t>
            </a:r>
          </a:p>
        </p:txBody>
      </p:sp>
      <p:sp>
        <p:nvSpPr>
          <p:cNvPr id="10" name="Oval 9"/>
          <p:cNvSpPr/>
          <p:nvPr/>
        </p:nvSpPr>
        <p:spPr>
          <a:xfrm>
            <a:off x="5029200" y="3474720"/>
            <a:ext cx="1188720" cy="1188720"/>
          </a:xfrm>
          <a:prstGeom prst="ellipse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29200" y="3657600"/>
            <a:ext cx="1188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0">
                <a:solidFill>
                  <a:srgbClr val="1E2A3A"/>
                </a:solidFill>
                <a:latin typeface="Pretendard"/>
              </a:rPr>
              <a:t>📱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0" y="4846320"/>
            <a:ext cx="2103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1E2A3A"/>
                </a:solidFill>
                <a:latin typeface="Pretendard"/>
              </a:rPr>
              <a:t>30초 내
푸시 알림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83680" y="393192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>
                <a:solidFill>
                  <a:srgbClr val="C0C0C0"/>
                </a:solidFill>
                <a:latin typeface="Pretendard"/>
              </a:rPr>
              <a:t>→</a:t>
            </a:r>
          </a:p>
        </p:txBody>
      </p:sp>
      <p:sp>
        <p:nvSpPr>
          <p:cNvPr id="14" name="Oval 13"/>
          <p:cNvSpPr/>
          <p:nvPr/>
        </p:nvSpPr>
        <p:spPr>
          <a:xfrm>
            <a:off x="8229600" y="3474720"/>
            <a:ext cx="1188720" cy="1188720"/>
          </a:xfrm>
          <a:prstGeom prst="ellipse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29600" y="3657600"/>
            <a:ext cx="1188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0">
                <a:solidFill>
                  <a:srgbClr val="1E2A3A"/>
                </a:solidFill>
                <a:latin typeface="Pretendard"/>
              </a:rPr>
              <a:t>✅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72400" y="4846320"/>
            <a:ext cx="2103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1E2A3A"/>
                </a:solidFill>
                <a:latin typeface="Pretendard"/>
              </a:rPr>
              <a:t>보호자
확인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784080" y="393192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>
                <a:solidFill>
                  <a:srgbClr val="C0C0C0"/>
                </a:solidFill>
                <a:latin typeface="Pretendard"/>
              </a:rPr>
              <a:t>→</a:t>
            </a:r>
          </a:p>
        </p:txBody>
      </p:sp>
      <p:sp>
        <p:nvSpPr>
          <p:cNvPr id="18" name="Oval 17"/>
          <p:cNvSpPr/>
          <p:nvPr/>
        </p:nvSpPr>
        <p:spPr>
          <a:xfrm>
            <a:off x="11430000" y="3474720"/>
            <a:ext cx="1188720" cy="1188720"/>
          </a:xfrm>
          <a:prstGeom prst="ellipse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1430000" y="3657600"/>
            <a:ext cx="1188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0">
                <a:solidFill>
                  <a:srgbClr val="1E2A3A"/>
                </a:solidFill>
                <a:latin typeface="Pretendard"/>
              </a:rPr>
              <a:t>🔄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972800" y="4846320"/>
            <a:ext cx="2103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1E2A3A"/>
                </a:solidFill>
                <a:latin typeface="Pretendard"/>
              </a:rPr>
              <a:t>미응답 시
자동 재알림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029200" y="6217920"/>
            <a:ext cx="4572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800" b="1">
                <a:solidFill>
                  <a:srgbClr val="E53935"/>
                </a:solidFill>
                <a:latin typeface="Pretendard"/>
              </a:rPr>
              <a:t>30초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29200" y="694944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8C939A"/>
                </a:solidFill>
                <a:latin typeface="Pretendard"/>
              </a:rPr>
              <a:t>대응 타임라인 자동 기록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2743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8C939A"/>
                </a:solidFill>
                <a:latin typeface="Pretendard"/>
              </a:rPr>
              <a:t>디지털콘텐츠제작03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258800" y="7589520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>
                <a:solidFill>
                  <a:srgbClr val="8C939A"/>
                </a:solidFill>
                <a:latin typeface="Pretendard"/>
              </a:rPr>
              <a:t>11 / 19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91440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600" b="1">
                <a:solidFill>
                  <a:srgbClr val="4ABAEB"/>
                </a:solidFill>
                <a:latin typeface="Pretendard"/>
              </a:rPr>
              <a:t>1:1 </a:t>
            </a:r>
            <a:r>
              <a:rPr sz="3600" b="1">
                <a:solidFill>
                  <a:srgbClr val="1E2A3A"/>
                </a:solidFill>
                <a:latin typeface="Pretendard"/>
              </a:rPr>
              <a:t>채팅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64592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8C939A"/>
                </a:solidFill>
                <a:latin typeface="Pretendard"/>
              </a:rPr>
              <a:t>보호자-의료진 실시간 소통 + 사진 첨부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657600" y="2286000"/>
            <a:ext cx="7315200" cy="5029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0C0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3657600" y="2286000"/>
            <a:ext cx="7315200" cy="731520"/>
          </a:xfrm>
          <a:prstGeom prst="round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114800" y="242316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E2A3A"/>
                </a:solidFill>
                <a:latin typeface="Pretendard"/>
              </a:rPr>
              <a:t>김간호사 · 담당 간호사 · 101호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114800" y="3291840"/>
            <a:ext cx="4114800" cy="640080"/>
          </a:xfrm>
          <a:prstGeom prst="round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297680" y="3383280"/>
            <a:ext cx="3840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E2A3A"/>
                </a:solidFill>
                <a:latin typeface="Pretendard"/>
              </a:rPr>
              <a:t>오늘 어머님 컨디션이 좋아지셨어요.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97680" y="3703320"/>
            <a:ext cx="18288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8C939A"/>
                </a:solidFill>
                <a:latin typeface="Pretendard"/>
              </a:rPr>
              <a:t>10:30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114800" y="4297680"/>
            <a:ext cx="4114800" cy="640080"/>
          </a:xfrm>
          <a:prstGeom prst="round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297680" y="4389120"/>
            <a:ext cx="3840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E2A3A"/>
                </a:solidFill>
                <a:latin typeface="Pretendard"/>
              </a:rPr>
              <a:t>아침 80% 드셨고 투약도 완료했습니다.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297680" y="4709160"/>
            <a:ext cx="18288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8C939A"/>
                </a:solidFill>
                <a:latin typeface="Pretendard"/>
              </a:rPr>
              <a:t>10:33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114800" y="5303520"/>
            <a:ext cx="4114800" cy="640080"/>
          </a:xfrm>
          <a:prstGeom prst="round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297680" y="5394960"/>
            <a:ext cx="3840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E2A3A"/>
                </a:solidFill>
                <a:latin typeface="Pretendard"/>
              </a:rPr>
              <a:t>네, 10시에 30분간 진행 예정입니다!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297680" y="5715000"/>
            <a:ext cx="18288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8C939A"/>
                </a:solidFill>
                <a:latin typeface="Pretendard"/>
              </a:rPr>
              <a:t>10:35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772400" y="3840480"/>
            <a:ext cx="2926080" cy="640080"/>
          </a:xfrm>
          <a:prstGeom prst="roundRect">
            <a:avLst/>
          </a:prstGeom>
          <a:solidFill>
            <a:srgbClr val="4ABA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955279" y="393192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Pretendard"/>
              </a:rPr>
              <a:t>감사합니다. 식사는 잘 하셨나요?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601200" y="4251960"/>
            <a:ext cx="10972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CCE8FF"/>
                </a:solidFill>
                <a:latin typeface="Pretendard"/>
              </a:rPr>
              <a:t>10:32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772400" y="4846320"/>
            <a:ext cx="2926080" cy="640080"/>
          </a:xfrm>
          <a:prstGeom prst="roundRect">
            <a:avLst/>
          </a:prstGeom>
          <a:solidFill>
            <a:srgbClr val="4ABA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955279" y="493776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Pretendard"/>
              </a:rPr>
              <a:t>재활운동은 오늘도 하시나요?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601200" y="5257800"/>
            <a:ext cx="10972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CCE8FF"/>
                </a:solidFill>
                <a:latin typeface="Pretendard"/>
              </a:rPr>
              <a:t>10:35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3931920" y="6675120"/>
            <a:ext cx="6217920" cy="457200"/>
          </a:xfrm>
          <a:prstGeom prst="round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114800" y="672084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C0C0C0"/>
                </a:solidFill>
                <a:latin typeface="Pretendard"/>
              </a:rPr>
              <a:t>메시지를 입력하세요...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2743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8C939A"/>
                </a:solidFill>
                <a:latin typeface="Pretendard"/>
              </a:rPr>
              <a:t>디지털콘텐츠제작03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258800" y="7589520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>
                <a:solidFill>
                  <a:srgbClr val="8C939A"/>
                </a:solidFill>
                <a:latin typeface="Pretendard"/>
              </a:rPr>
              <a:t>12 / 19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91440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600" b="1">
                <a:solidFill>
                  <a:srgbClr val="4ABAEB"/>
                </a:solidFill>
                <a:latin typeface="Pretendard"/>
              </a:rPr>
              <a:t>AI </a:t>
            </a:r>
            <a:r>
              <a:rPr sz="3600" b="1">
                <a:solidFill>
                  <a:srgbClr val="1E2A3A"/>
                </a:solidFill>
                <a:latin typeface="Pretendard"/>
              </a:rPr>
              <a:t>케어 가이드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64592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8C939A"/>
                </a:solidFill>
                <a:latin typeface="Pretendard"/>
              </a:rPr>
              <a:t>핵심 차별화 기능 — 5개 모드로 확장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286000"/>
            <a:ext cx="6858000" cy="5029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0C0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1097280" y="2834640"/>
            <a:ext cx="5029200" cy="1371600"/>
          </a:xfrm>
          <a:prstGeom prst="round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280160" y="2926080"/>
            <a:ext cx="475488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E2A3A"/>
                </a:solidFill>
                <a:latin typeface="Pretendard"/>
              </a:rPr>
              <a:t>신청 절차를 안내드립니다.
1. 건강보험공단 신청
2. 방문조사
3. 등급판정 심의
4. 결정 통보 (약 30일)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200400" y="4389120"/>
            <a:ext cx="4114800" cy="548640"/>
          </a:xfrm>
          <a:prstGeom prst="roundRect">
            <a:avLst/>
          </a:prstGeom>
          <a:solidFill>
            <a:srgbClr val="4ABA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383280" y="4434840"/>
            <a:ext cx="3840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Pretendard"/>
              </a:rPr>
              <a:t>장기요양등급 신청 어떻게 하나요?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114800" y="5120640"/>
            <a:ext cx="3200400" cy="548640"/>
          </a:xfrm>
          <a:prstGeom prst="roundRect">
            <a:avLst/>
          </a:prstGeom>
          <a:solidFill>
            <a:srgbClr val="4ABA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297680" y="516636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Pretendard"/>
              </a:rPr>
              <a:t>저 요즘 너무 힘들어요...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097280" y="5852160"/>
            <a:ext cx="5486400" cy="914400"/>
          </a:xfrm>
          <a:prstGeom prst="roundRect">
            <a:avLst/>
          </a:prstGeom>
          <a:solidFill>
            <a:srgbClr val="FEF5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280160" y="5897880"/>
            <a:ext cx="52120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E65100"/>
                </a:solidFill>
                <a:latin typeface="Pretendard"/>
              </a:rPr>
              <a:t>감정 지원 모드
혼자 감당하지 않으셔도 됩니다.
전문 상담 기관 안내를 원하시면 말씀해주세요.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0" y="256032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4ABAEB"/>
                </a:solidFill>
                <a:latin typeface="Pretendard"/>
              </a:rPr>
              <a:t>메인 40%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0" y="292608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1E2A3A"/>
                </a:solidFill>
                <a:latin typeface="Pretendard"/>
              </a:rPr>
              <a:t>요양 · 건강 백과사전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600" y="347472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8C939A"/>
                </a:solidFill>
                <a:latin typeface="Pretendard"/>
              </a:rPr>
              <a:t>입소 절차, 비용, 장기요양등급, 노인성 질환,
투약, 재활, 영양 정보를 AI가 즉시 안내합니다.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600" y="438912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4ABAEB"/>
                </a:solidFill>
                <a:latin typeface="Pretendard"/>
              </a:rPr>
              <a:t>서브 20%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600" y="466344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E2A3A"/>
                </a:solidFill>
                <a:latin typeface="Pretendard"/>
              </a:rPr>
              <a:t>감정 지원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29600" y="502920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8C939A"/>
                </a:solidFill>
                <a:latin typeface="Pretendard"/>
              </a:rPr>
              <a:t>대화 흐름에서 감정적 신호 감지 시
공감·위로 모드로 자연스럽게 전환합니다.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229600" y="5760720"/>
            <a:ext cx="731520" cy="320040"/>
          </a:xfrm>
          <a:prstGeom prst="roundRect">
            <a:avLst/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275320" y="5760720"/>
            <a:ext cx="640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>
                <a:solidFill>
                  <a:srgbClr val="4CAF50"/>
                </a:solidFill>
                <a:latin typeface="Pretendard"/>
              </a:rPr>
              <a:t>NEW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44000" y="5760720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4ABAEB"/>
                </a:solidFill>
                <a:latin typeface="Pretendard"/>
              </a:rPr>
              <a:t>15%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058400" y="576072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E2A3A"/>
                </a:solidFill>
                <a:latin typeface="Pretendard"/>
              </a:rPr>
              <a:t>요양원 찾기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229600" y="6263640"/>
            <a:ext cx="731520" cy="320040"/>
          </a:xfrm>
          <a:prstGeom prst="roundRect">
            <a:avLst/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275320" y="6263640"/>
            <a:ext cx="640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>
                <a:solidFill>
                  <a:srgbClr val="4CAF50"/>
                </a:solidFill>
                <a:latin typeface="Pretendard"/>
              </a:rPr>
              <a:t>NEW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144000" y="6263640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4ABAEB"/>
                </a:solidFill>
                <a:latin typeface="Pretendard"/>
              </a:rPr>
              <a:t>15%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058400" y="626364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E2A3A"/>
                </a:solidFill>
                <a:latin typeface="Pretendard"/>
              </a:rPr>
              <a:t>요양보호사 안내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229600" y="6766560"/>
            <a:ext cx="731520" cy="320040"/>
          </a:xfrm>
          <a:prstGeom prst="roundRect">
            <a:avLst/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275320" y="6766560"/>
            <a:ext cx="640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>
                <a:solidFill>
                  <a:srgbClr val="4CAF50"/>
                </a:solidFill>
                <a:latin typeface="Pretendard"/>
              </a:rPr>
              <a:t>NEW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144000" y="6766560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4ABAEB"/>
                </a:solidFill>
                <a:latin typeface="Pretendard"/>
              </a:rPr>
              <a:t>10%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058400" y="676656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E2A3A"/>
                </a:solidFill>
                <a:latin typeface="Pretendard"/>
              </a:rPr>
              <a:t>요양비 계산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2743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8C939A"/>
                </a:solidFill>
                <a:latin typeface="Pretendard"/>
              </a:rPr>
              <a:t>디지털콘텐츠제작03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258800" y="7589520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>
                <a:solidFill>
                  <a:srgbClr val="8C939A"/>
                </a:solidFill>
                <a:latin typeface="Pretendard"/>
              </a:rPr>
              <a:t>13 / 19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914400"/>
            <a:ext cx="12801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1E2A3A"/>
                </a:solidFill>
                <a:latin typeface="Pretendard"/>
              </a:rPr>
              <a:t>매일 저녁 7시, </a:t>
            </a:r>
            <a:r>
              <a:rPr sz="3200" b="1">
                <a:solidFill>
                  <a:srgbClr val="4ABAEB"/>
                </a:solidFill>
                <a:latin typeface="Pretendard"/>
              </a:rPr>
              <a:t>AI가 하루를 요약합니다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645920"/>
            <a:ext cx="1280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8C939A"/>
                </a:solidFill>
                <a:latin typeface="Pretendard"/>
              </a:rPr>
              <a:t>당일 체크리스트 데이터를 Claude API가 자연어로 요약하여 보호자에게 자동 발송합니다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3200400"/>
            <a:ext cx="1828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4ABAEB"/>
                </a:solidFill>
                <a:latin typeface="Pretendard"/>
              </a:rPr>
              <a:t>80%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474720" y="333756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8C939A"/>
                </a:solidFill>
                <a:latin typeface="Pretendard"/>
              </a:rPr>
              <a:t>식사량 평균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4297680"/>
            <a:ext cx="1828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4ABAEB"/>
                </a:solidFill>
                <a:latin typeface="Pretendard"/>
              </a:rPr>
              <a:t>3/3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474720" y="443484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8C939A"/>
                </a:solidFill>
                <a:latin typeface="Pretendard"/>
              </a:rPr>
              <a:t>투약 완료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5394960"/>
            <a:ext cx="1828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4ABAEB"/>
                </a:solidFill>
                <a:latin typeface="Pretendard"/>
              </a:rPr>
              <a:t>30분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474720" y="553212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8C939A"/>
                </a:solidFill>
                <a:latin typeface="Pretendard"/>
              </a:rPr>
              <a:t>재활운동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371600" y="6400800"/>
            <a:ext cx="2743200" cy="365760"/>
          </a:xfrm>
          <a:prstGeom prst="roundRect">
            <a:avLst/>
          </a:prstGeom>
          <a:solidFill>
            <a:srgbClr val="F0F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463040" y="640080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4ABAEB"/>
                </a:solidFill>
                <a:latin typeface="Pretendard"/>
              </a:rPr>
              <a:t>Claude API 자동 생성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0" y="2286000"/>
            <a:ext cx="6858000" cy="5029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0C0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6400800" y="2286000"/>
            <a:ext cx="6858000" cy="731520"/>
          </a:xfrm>
          <a:prstGeom prst="round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858000" y="242316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E2A3A"/>
                </a:solidFill>
                <a:latin typeface="Pretendard"/>
              </a:rPr>
              <a:t>김간호사 · 담당 간호사 · 101호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675120" y="3200400"/>
            <a:ext cx="3657600" cy="548640"/>
          </a:xfrm>
          <a:prstGeom prst="round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858000" y="3246120"/>
            <a:ext cx="3383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1E2A3A"/>
                </a:solidFill>
                <a:latin typeface="Pretendard"/>
              </a:rPr>
              <a:t>오늘 어머님 컨디션이 좋아지셨어요.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858000" y="3547872"/>
            <a:ext cx="18288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8C939A"/>
                </a:solidFill>
                <a:latin typeface="Pretendard"/>
              </a:rPr>
              <a:t>10:30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675120" y="3977639"/>
            <a:ext cx="3657600" cy="548640"/>
          </a:xfrm>
          <a:prstGeom prst="round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858000" y="4023359"/>
            <a:ext cx="3383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1E2A3A"/>
                </a:solidFill>
                <a:latin typeface="Pretendard"/>
              </a:rPr>
              <a:t>아침 80% 드셨고 투약도 완료했습니다.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858000" y="4325112"/>
            <a:ext cx="18288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8C939A"/>
                </a:solidFill>
                <a:latin typeface="Pretendard"/>
              </a:rPr>
              <a:t>10:33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601200" y="3566160"/>
            <a:ext cx="3200400" cy="548640"/>
          </a:xfrm>
          <a:prstGeom prst="roundRect">
            <a:avLst/>
          </a:prstGeom>
          <a:solidFill>
            <a:srgbClr val="4ABA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784080" y="3611880"/>
            <a:ext cx="2926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  <a:latin typeface="Pretendard"/>
              </a:rPr>
              <a:t>감사합니다. 식사는 잘 하셨나요?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2743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8C939A"/>
                </a:solidFill>
                <a:latin typeface="Pretendard"/>
              </a:rPr>
              <a:t>디지털콘텐츠제작03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258800" y="7589520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>
                <a:solidFill>
                  <a:srgbClr val="8C939A"/>
                </a:solidFill>
                <a:latin typeface="Pretendard"/>
              </a:rPr>
              <a:t>14 / 19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91440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600" b="1">
                <a:solidFill>
                  <a:srgbClr val="4ABAEB"/>
                </a:solidFill>
                <a:latin typeface="Pretendard"/>
              </a:rPr>
              <a:t>시간표 </a:t>
            </a:r>
            <a:r>
              <a:rPr sz="3600" b="1">
                <a:solidFill>
                  <a:srgbClr val="1E2A3A"/>
                </a:solidFill>
                <a:latin typeface="Pretendard"/>
              </a:rPr>
              <a:t>+ 의료 타임라인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64592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8C939A"/>
                </a:solidFill>
                <a:latin typeface="Pretendard"/>
              </a:rPr>
              <a:t>환자 일과와 진료·처방·검사 이력을 한눈에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14400" y="2377440"/>
            <a:ext cx="914400" cy="274320"/>
          </a:xfrm>
          <a:prstGeom prst="roundRect">
            <a:avLst/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2377440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4CAF50"/>
                </a:solidFill>
                <a:latin typeface="Pretendard"/>
              </a:rPr>
              <a:t>NEW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011680" y="237744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E2A3A"/>
                </a:solidFill>
                <a:latin typeface="Pretendard"/>
              </a:rPr>
              <a:t>시간표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74320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8C939A"/>
                </a:solidFill>
                <a:latin typeface="Pretendard"/>
              </a:rPr>
              <a:t>환자 일과표 + 의료진 케어 스케줄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14400" y="3108960"/>
            <a:ext cx="5943600" cy="4572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0C0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88720" y="338328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8C939A"/>
                </a:solidFill>
                <a:latin typeface="Pretendard"/>
              </a:rPr>
              <a:t>07:00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560320" y="3383280"/>
            <a:ext cx="2011680" cy="365760"/>
          </a:xfrm>
          <a:prstGeom prst="roundRect">
            <a:avLst/>
          </a:prstGeom>
          <a:solidFill>
            <a:srgbClr val="FFB7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651760" y="338328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Pretendard"/>
              </a:rPr>
              <a:t>기상 · 조식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88720" y="393192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8C939A"/>
                </a:solidFill>
                <a:latin typeface="Pretendard"/>
              </a:rPr>
              <a:t>09:00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2560320" y="3931920"/>
            <a:ext cx="2011680" cy="365760"/>
          </a:xfrm>
          <a:prstGeom prst="roundRect">
            <a:avLst/>
          </a:prstGeom>
          <a:solidFill>
            <a:srgbClr val="4CA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651760" y="393192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Pretendard"/>
              </a:rPr>
              <a:t>오전 투약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88720" y="448056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8C939A"/>
                </a:solidFill>
                <a:latin typeface="Pretendard"/>
              </a:rPr>
              <a:t>10:00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2560320" y="4480560"/>
            <a:ext cx="2011680" cy="365760"/>
          </a:xfrm>
          <a:prstGeom prst="roundRect">
            <a:avLst/>
          </a:prstGeom>
          <a:solidFill>
            <a:srgbClr val="4ABA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651760" y="448056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Pretendard"/>
              </a:rPr>
              <a:t>재활운동 30분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88720" y="502920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8C939A"/>
                </a:solidFill>
                <a:latin typeface="Pretendard"/>
              </a:rPr>
              <a:t>12:00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2560320" y="5029200"/>
            <a:ext cx="2011680" cy="365760"/>
          </a:xfrm>
          <a:prstGeom prst="roundRect">
            <a:avLst/>
          </a:prstGeom>
          <a:solidFill>
            <a:srgbClr val="FFB7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2651760" y="50292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Pretendard"/>
              </a:rPr>
              <a:t>점심 식사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88720" y="557784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8C939A"/>
                </a:solidFill>
                <a:latin typeface="Pretendard"/>
              </a:rPr>
              <a:t>14:00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2560320" y="5577840"/>
            <a:ext cx="2011680" cy="365760"/>
          </a:xfrm>
          <a:prstGeom prst="roundRect">
            <a:avLst/>
          </a:prstGeom>
          <a:solidFill>
            <a:srgbClr val="8C9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2651760" y="557784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Pretendard"/>
              </a:rPr>
              <a:t>산책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88720" y="612648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8C939A"/>
                </a:solidFill>
                <a:latin typeface="Pretendard"/>
              </a:rPr>
              <a:t>17:00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2560320" y="6126480"/>
            <a:ext cx="2011680" cy="365760"/>
          </a:xfrm>
          <a:prstGeom prst="roundRect">
            <a:avLst/>
          </a:prstGeom>
          <a:solidFill>
            <a:srgbClr val="4CA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2651760" y="612648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Pretendard"/>
              </a:rPr>
              <a:t>오후 투약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88720" y="667512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8C939A"/>
                </a:solidFill>
                <a:latin typeface="Pretendard"/>
              </a:rPr>
              <a:t>18:00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2560320" y="6675120"/>
            <a:ext cx="2011680" cy="365760"/>
          </a:xfrm>
          <a:prstGeom prst="roundRect">
            <a:avLst/>
          </a:prstGeom>
          <a:solidFill>
            <a:srgbClr val="FFB7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2651760" y="667512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Pretendard"/>
              </a:rPr>
              <a:t>석식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7772400" y="2377440"/>
            <a:ext cx="914400" cy="274320"/>
          </a:xfrm>
          <a:prstGeom prst="roundRect">
            <a:avLst/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818120" y="2377440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4CAF50"/>
                </a:solidFill>
                <a:latin typeface="Pretendard"/>
              </a:rPr>
              <a:t>NEW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869680" y="237744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E2A3A"/>
                </a:solidFill>
                <a:latin typeface="Pretendard"/>
              </a:rPr>
              <a:t>의료 타임라인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772400" y="274320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8C939A"/>
                </a:solidFill>
                <a:latin typeface="Pretendard"/>
              </a:rPr>
              <a:t>진료 · 처방 · 검사 시간순 통합 조회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7772400" y="3108960"/>
            <a:ext cx="5943600" cy="4572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0C0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8046720" y="3383280"/>
            <a:ext cx="457200" cy="457200"/>
          </a:xfrm>
          <a:prstGeom prst="ellipse">
            <a:avLst/>
          </a:prstGeom>
          <a:solidFill>
            <a:srgbClr val="4ABA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046720" y="342900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Pretendard"/>
              </a:rPr>
              <a:t>D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686800" y="338328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8C939A"/>
                </a:solidFill>
                <a:latin typeface="Pretendard"/>
              </a:rPr>
              <a:t>2026.03.14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686800" y="365760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E2A3A"/>
                </a:solidFill>
                <a:latin typeface="Pretendard"/>
              </a:rPr>
              <a:t>정기 건강검진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686800" y="393192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8C939A"/>
                </a:solidFill>
                <a:latin typeface="Pretendard"/>
              </a:rPr>
              <a:t>전반적 건강 양호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2344400" y="352044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>
                <a:solidFill>
                  <a:srgbClr val="4ABAEB"/>
                </a:solidFill>
                <a:latin typeface="Pretendard"/>
              </a:rPr>
              <a:t>진료</a:t>
            </a:r>
          </a:p>
        </p:txBody>
      </p:sp>
      <p:sp>
        <p:nvSpPr>
          <p:cNvPr id="43" name="Oval 42"/>
          <p:cNvSpPr/>
          <p:nvPr/>
        </p:nvSpPr>
        <p:spPr>
          <a:xfrm>
            <a:off x="8046720" y="4389120"/>
            <a:ext cx="457200" cy="457200"/>
          </a:xfrm>
          <a:prstGeom prst="ellipse">
            <a:avLst/>
          </a:prstGeom>
          <a:solidFill>
            <a:srgbClr val="4CA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8046720" y="443484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Pretendard"/>
              </a:rPr>
              <a:t>P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686800" y="438912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8C939A"/>
                </a:solidFill>
                <a:latin typeface="Pretendard"/>
              </a:rPr>
              <a:t>2026.03.12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686800" y="466344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E2A3A"/>
                </a:solidFill>
                <a:latin typeface="Pretendard"/>
              </a:rPr>
              <a:t>혈압약 용량 조정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686800" y="493776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8C939A"/>
                </a:solidFill>
                <a:latin typeface="Pretendard"/>
              </a:rPr>
              <a:t>5mg → 10mg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2344400" y="452628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>
                <a:solidFill>
                  <a:srgbClr val="4CAF50"/>
                </a:solidFill>
                <a:latin typeface="Pretendard"/>
              </a:rPr>
              <a:t>처방</a:t>
            </a:r>
          </a:p>
        </p:txBody>
      </p:sp>
      <p:sp>
        <p:nvSpPr>
          <p:cNvPr id="49" name="Oval 48"/>
          <p:cNvSpPr/>
          <p:nvPr/>
        </p:nvSpPr>
        <p:spPr>
          <a:xfrm>
            <a:off x="8046720" y="5394960"/>
            <a:ext cx="457200" cy="457200"/>
          </a:xfrm>
          <a:prstGeom prst="ellipse">
            <a:avLst/>
          </a:prstGeom>
          <a:solidFill>
            <a:srgbClr val="FFB7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8046720" y="544068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Pretendard"/>
              </a:rPr>
              <a:t>E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8686800" y="539496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8C939A"/>
                </a:solidFill>
                <a:latin typeface="Pretendard"/>
              </a:rPr>
              <a:t>2026.03.10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8686800" y="566928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E2A3A"/>
                </a:solidFill>
                <a:latin typeface="Pretendard"/>
              </a:rPr>
              <a:t>혈액검사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8686800" y="594360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8C939A"/>
                </a:solidFill>
                <a:latin typeface="Pretendard"/>
              </a:rPr>
              <a:t>간·신장 기능 정상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12344400" y="553212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>
                <a:solidFill>
                  <a:srgbClr val="FFB74D"/>
                </a:solidFill>
                <a:latin typeface="Pretendard"/>
              </a:rPr>
              <a:t>검사</a:t>
            </a:r>
          </a:p>
        </p:txBody>
      </p:sp>
      <p:sp>
        <p:nvSpPr>
          <p:cNvPr id="55" name="Oval 54"/>
          <p:cNvSpPr/>
          <p:nvPr/>
        </p:nvSpPr>
        <p:spPr>
          <a:xfrm>
            <a:off x="8046720" y="6400800"/>
            <a:ext cx="457200" cy="457200"/>
          </a:xfrm>
          <a:prstGeom prst="ellipse">
            <a:avLst/>
          </a:prstGeom>
          <a:solidFill>
            <a:srgbClr val="4ABA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8046720" y="644652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Pretendard"/>
              </a:rPr>
              <a:t>D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8686800" y="640080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8C939A"/>
                </a:solidFill>
                <a:latin typeface="Pretendard"/>
              </a:rPr>
              <a:t>2026.03.05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8686800" y="667512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E2A3A"/>
                </a:solidFill>
                <a:latin typeface="Pretendard"/>
              </a:rPr>
              <a:t>내과 진료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8686800" y="694944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8C939A"/>
                </a:solidFill>
                <a:latin typeface="Pretendard"/>
              </a:rPr>
              <a:t>소화 불량 호전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12344400" y="653796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>
                <a:solidFill>
                  <a:srgbClr val="4ABAEB"/>
                </a:solidFill>
                <a:latin typeface="Pretendard"/>
              </a:rPr>
              <a:t>진료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2743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8C939A"/>
                </a:solidFill>
                <a:latin typeface="Pretendard"/>
              </a:rPr>
              <a:t>디지털콘텐츠제작03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258800" y="7589520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>
                <a:solidFill>
                  <a:srgbClr val="8C939A"/>
                </a:solidFill>
                <a:latin typeface="Pretendard"/>
              </a:rPr>
              <a:t>15 / 19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91440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600" b="1">
                <a:solidFill>
                  <a:srgbClr val="4ABAEB"/>
                </a:solidFill>
                <a:latin typeface="Pretendard"/>
              </a:rPr>
              <a:t>따뜻하지만 </a:t>
            </a:r>
            <a:r>
              <a:rPr sz="3600" b="1">
                <a:solidFill>
                  <a:srgbClr val="1E2A3A"/>
                </a:solidFill>
                <a:latin typeface="Pretendard"/>
              </a:rPr>
              <a:t>전문적인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64592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8C939A"/>
                </a:solidFill>
                <a:latin typeface="Pretendard"/>
              </a:rPr>
              <a:t>하루안부의 디자인 방향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371600" y="2560320"/>
            <a:ext cx="1828800" cy="548640"/>
          </a:xfrm>
          <a:prstGeom prst="round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371600" y="260604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1E2A3A"/>
                </a:solidFill>
                <a:latin typeface="Pretendard"/>
              </a:rPr>
              <a:t>따뜻한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657600" y="2560320"/>
            <a:ext cx="1828800" cy="548640"/>
          </a:xfrm>
          <a:prstGeom prst="round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57600" y="260604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1E2A3A"/>
                </a:solidFill>
                <a:latin typeface="Pretendard"/>
              </a:rPr>
              <a:t>전문적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943600" y="2560320"/>
            <a:ext cx="1828800" cy="548640"/>
          </a:xfrm>
          <a:prstGeom prst="round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943600" y="260604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1E2A3A"/>
                </a:solidFill>
                <a:latin typeface="Pretendard"/>
              </a:rPr>
              <a:t>안심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229600" y="2560320"/>
            <a:ext cx="1828800" cy="548640"/>
          </a:xfrm>
          <a:prstGeom prst="round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29600" y="260604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1E2A3A"/>
                </a:solidFill>
                <a:latin typeface="Pretendard"/>
              </a:rPr>
              <a:t>소프트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71600" y="365760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E2A3A"/>
                </a:solidFill>
                <a:latin typeface="Pretendard"/>
              </a:rPr>
              <a:t>컬러 팔레트</a:t>
            </a:r>
          </a:p>
        </p:txBody>
      </p:sp>
      <p:sp>
        <p:nvSpPr>
          <p:cNvPr id="15" name="Oval 14"/>
          <p:cNvSpPr/>
          <p:nvPr/>
        </p:nvSpPr>
        <p:spPr>
          <a:xfrm>
            <a:off x="1828800" y="4206240"/>
            <a:ext cx="1371600" cy="1371600"/>
          </a:xfrm>
          <a:prstGeom prst="ellipse">
            <a:avLst/>
          </a:prstGeom>
          <a:solidFill>
            <a:srgbClr val="4A7F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371600" y="576072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1E2A3A"/>
                </a:solidFill>
                <a:latin typeface="Pretendard"/>
              </a:rPr>
              <a:t>안심 블루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371600" y="603504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8C939A"/>
                </a:solidFill>
                <a:latin typeface="Pretendard"/>
              </a:rPr>
              <a:t>#4A7FBF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71600" y="630936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4ABAEB"/>
                </a:solidFill>
                <a:latin typeface="Pretendard"/>
              </a:rPr>
              <a:t>보호자</a:t>
            </a:r>
          </a:p>
        </p:txBody>
      </p:sp>
      <p:sp>
        <p:nvSpPr>
          <p:cNvPr id="19" name="Oval 18"/>
          <p:cNvSpPr/>
          <p:nvPr/>
        </p:nvSpPr>
        <p:spPr>
          <a:xfrm>
            <a:off x="5029200" y="4206240"/>
            <a:ext cx="1371600" cy="1371600"/>
          </a:xfrm>
          <a:prstGeom prst="ellipse">
            <a:avLst/>
          </a:prstGeom>
          <a:solidFill>
            <a:srgbClr val="5BAE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572000" y="576072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1E2A3A"/>
                </a:solidFill>
                <a:latin typeface="Pretendard"/>
              </a:rPr>
              <a:t>케어 그린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0" y="603504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8C939A"/>
                </a:solidFill>
                <a:latin typeface="Pretendard"/>
              </a:rPr>
              <a:t>#5BAE8C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2000" y="630936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4ABAEB"/>
                </a:solidFill>
                <a:latin typeface="Pretendard"/>
              </a:rPr>
              <a:t>의료진</a:t>
            </a:r>
          </a:p>
        </p:txBody>
      </p:sp>
      <p:sp>
        <p:nvSpPr>
          <p:cNvPr id="23" name="Oval 22"/>
          <p:cNvSpPr/>
          <p:nvPr/>
        </p:nvSpPr>
        <p:spPr>
          <a:xfrm>
            <a:off x="8229600" y="4206240"/>
            <a:ext cx="1371600" cy="1371600"/>
          </a:xfrm>
          <a:prstGeom prst="ellipse">
            <a:avLst/>
          </a:prstGeom>
          <a:solidFill>
            <a:srgbClr val="D4A5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772400" y="576072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1E2A3A"/>
                </a:solidFill>
                <a:latin typeface="Pretendard"/>
              </a:rPr>
              <a:t>편안 베이지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772400" y="603504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8C939A"/>
                </a:solidFill>
                <a:latin typeface="Pretendard"/>
              </a:rPr>
              <a:t>#D4A574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772400" y="630936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4ABAEB"/>
                </a:solidFill>
                <a:latin typeface="Pretendard"/>
              </a:rPr>
              <a:t>환자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229600" y="365760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E2A3A"/>
                </a:solidFill>
                <a:latin typeface="Pretendard"/>
              </a:rPr>
              <a:t>시멘틱 컬러</a:t>
            </a:r>
          </a:p>
        </p:txBody>
      </p:sp>
      <p:sp>
        <p:nvSpPr>
          <p:cNvPr id="28" name="Oval 27"/>
          <p:cNvSpPr/>
          <p:nvPr/>
        </p:nvSpPr>
        <p:spPr>
          <a:xfrm>
            <a:off x="8686800" y="4389120"/>
            <a:ext cx="457200" cy="457200"/>
          </a:xfrm>
          <a:prstGeom prst="ellipse">
            <a:avLst/>
          </a:prstGeom>
          <a:solidFill>
            <a:srgbClr val="4CA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326880" y="443484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E2A3A"/>
                </a:solidFill>
                <a:latin typeface="Pretendard"/>
              </a:rPr>
              <a:t>완료</a:t>
            </a:r>
          </a:p>
        </p:txBody>
      </p:sp>
      <p:sp>
        <p:nvSpPr>
          <p:cNvPr id="30" name="Oval 29"/>
          <p:cNvSpPr/>
          <p:nvPr/>
        </p:nvSpPr>
        <p:spPr>
          <a:xfrm>
            <a:off x="8686800" y="5120640"/>
            <a:ext cx="457200" cy="457200"/>
          </a:xfrm>
          <a:prstGeom prst="ellipse">
            <a:avLst/>
          </a:prstGeom>
          <a:solidFill>
            <a:srgbClr val="FFB7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326880" y="5166359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E2A3A"/>
                </a:solidFill>
                <a:latin typeface="Pretendard"/>
              </a:rPr>
              <a:t>주의</a:t>
            </a:r>
          </a:p>
        </p:txBody>
      </p:sp>
      <p:sp>
        <p:nvSpPr>
          <p:cNvPr id="32" name="Oval 31"/>
          <p:cNvSpPr/>
          <p:nvPr/>
        </p:nvSpPr>
        <p:spPr>
          <a:xfrm>
            <a:off x="8686800" y="5852160"/>
            <a:ext cx="457200" cy="457200"/>
          </a:xfrm>
          <a:prstGeom prst="ellipse">
            <a:avLst/>
          </a:prstGeom>
          <a:solidFill>
            <a:srgbClr val="E539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9326880" y="589788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E2A3A"/>
                </a:solidFill>
                <a:latin typeface="Pretendard"/>
              </a:rPr>
              <a:t>긴급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14400" y="7132320"/>
            <a:ext cx="1280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8C939A"/>
                </a:solidFill>
                <a:latin typeface="Pretendard"/>
              </a:rPr>
              <a:t>색마다 이유가 있습니다 — 의도가 있는 디자인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2743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8C939A"/>
                </a:solidFill>
                <a:latin typeface="Pretendard"/>
              </a:rPr>
              <a:t>디지털콘텐츠제작03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258800" y="7589520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>
                <a:solidFill>
                  <a:srgbClr val="8C939A"/>
                </a:solidFill>
                <a:latin typeface="Pretendard"/>
              </a:rPr>
              <a:t>16 / 19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91440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600" b="1">
                <a:solidFill>
                  <a:srgbClr val="4ABAEB"/>
                </a:solidFill>
                <a:latin typeface="Pretendard"/>
              </a:rPr>
              <a:t>비주얼 컨셉 </a:t>
            </a:r>
            <a:r>
              <a:rPr sz="3600" b="1">
                <a:solidFill>
                  <a:srgbClr val="1E2A3A"/>
                </a:solidFill>
                <a:latin typeface="Pretendard"/>
              </a:rPr>
              <a:t>벤치마킹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64592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8C939A"/>
                </a:solidFill>
                <a:latin typeface="Pretendard"/>
              </a:rPr>
              <a:t>6개 서비스에서 배우고, 하루안부에 통합합니다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14400" y="2560320"/>
            <a:ext cx="4114800" cy="2103120"/>
          </a:xfrm>
          <a:prstGeom prst="round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88720" y="2743200"/>
            <a:ext cx="3657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C0C0C0"/>
                </a:solidFill>
                <a:latin typeface="Pretendard"/>
              </a:rPr>
              <a:t>[스크린샷]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88720" y="365760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E2A3A"/>
                </a:solidFill>
                <a:latin typeface="Pretendard"/>
              </a:rPr>
              <a:t>토스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88720" y="3977639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8C939A"/>
                </a:solidFill>
                <a:latin typeface="Pretendard"/>
              </a:rPr>
              <a:t>카드 UI + 정보 계층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88720" y="425196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4ABAEB"/>
                </a:solidFill>
                <a:latin typeface="Pretendard"/>
              </a:rPr>
              <a:t>→ 대시보드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0" y="2560320"/>
            <a:ext cx="4114800" cy="2103120"/>
          </a:xfrm>
          <a:prstGeom prst="round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760720" y="2743200"/>
            <a:ext cx="3657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C0C0C0"/>
                </a:solidFill>
                <a:latin typeface="Pretendard"/>
              </a:rPr>
              <a:t>[스크린샷]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760720" y="365760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E2A3A"/>
                </a:solidFill>
                <a:latin typeface="Pretendard"/>
              </a:rPr>
              <a:t>당근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760720" y="3977639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8C939A"/>
                </a:solidFill>
                <a:latin typeface="Pretendard"/>
              </a:rPr>
              <a:t>따뜻한 말투 + 접근성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760720" y="425196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4ABAEB"/>
                </a:solidFill>
                <a:latin typeface="Pretendard"/>
              </a:rPr>
              <a:t>→ UX 카피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0058400" y="2560320"/>
            <a:ext cx="4114800" cy="2103120"/>
          </a:xfrm>
          <a:prstGeom prst="round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332720" y="2743200"/>
            <a:ext cx="3657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C0C0C0"/>
                </a:solidFill>
                <a:latin typeface="Pretendard"/>
              </a:rPr>
              <a:t>[스크린샷]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332720" y="365760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E2A3A"/>
                </a:solidFill>
                <a:latin typeface="Pretendard"/>
              </a:rPr>
              <a:t>밀리의서재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332720" y="3977639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8C939A"/>
                </a:solidFill>
                <a:latin typeface="Pretendard"/>
              </a:rPr>
              <a:t>여백 + 감성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332720" y="425196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4ABAEB"/>
                </a:solidFill>
                <a:latin typeface="Pretendard"/>
              </a:rPr>
              <a:t>→ AI 리포트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14400" y="5120640"/>
            <a:ext cx="4114800" cy="2103120"/>
          </a:xfrm>
          <a:prstGeom prst="round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188720" y="5303520"/>
            <a:ext cx="3657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C0C0C0"/>
                </a:solidFill>
                <a:latin typeface="Pretendard"/>
              </a:rPr>
              <a:t>[스크린샷]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88720" y="621792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E2A3A"/>
                </a:solidFill>
                <a:latin typeface="Pretendard"/>
              </a:rPr>
              <a:t>카카오헬스케어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88720" y="6537959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8C939A"/>
                </a:solidFill>
                <a:latin typeface="Pretendard"/>
              </a:rPr>
              <a:t>데이터 시각화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88720" y="6812279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4ABAEB"/>
                </a:solidFill>
                <a:latin typeface="Pretendard"/>
              </a:rPr>
              <a:t>→ 대시보드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486400" y="5120640"/>
            <a:ext cx="4114800" cy="2103120"/>
          </a:xfrm>
          <a:prstGeom prst="round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760720" y="5303520"/>
            <a:ext cx="3657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C0C0C0"/>
                </a:solidFill>
                <a:latin typeface="Pretendard"/>
              </a:rPr>
              <a:t>[스크린샷]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760720" y="621792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E2A3A"/>
                </a:solidFill>
                <a:latin typeface="Pretendard"/>
              </a:rPr>
              <a:t>CaringBridge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760720" y="6537959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8C939A"/>
                </a:solidFill>
                <a:latin typeface="Pretendard"/>
              </a:rPr>
              <a:t>케어 소통 구조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760720" y="6812279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4ABAEB"/>
                </a:solidFill>
                <a:latin typeface="Pretendard"/>
              </a:rPr>
              <a:t>→ 전체 구조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10058400" y="5120640"/>
            <a:ext cx="4114800" cy="2103120"/>
          </a:xfrm>
          <a:prstGeom prst="round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0332720" y="5303520"/>
            <a:ext cx="3657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C0C0C0"/>
                </a:solidFill>
                <a:latin typeface="Pretendard"/>
              </a:rPr>
              <a:t>[스크린샷]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332720" y="621792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E2A3A"/>
                </a:solidFill>
                <a:latin typeface="Pretendard"/>
              </a:rPr>
              <a:t>눔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332720" y="6537959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8C939A"/>
                </a:solidFill>
                <a:latin typeface="Pretendard"/>
              </a:rPr>
              <a:t>그라디언트 + AI 톤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332720" y="6812279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4ABAEB"/>
                </a:solidFill>
                <a:latin typeface="Pretendard"/>
              </a:rPr>
              <a:t>→ AI 가이드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2743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8C939A"/>
                </a:solidFill>
                <a:latin typeface="Pretendard"/>
              </a:rPr>
              <a:t>디지털콘텐츠제작03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258800" y="7589520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>
                <a:solidFill>
                  <a:srgbClr val="8C939A"/>
                </a:solidFill>
                <a:latin typeface="Pretendard"/>
              </a:rPr>
              <a:t>17 / 19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914400"/>
            <a:ext cx="12801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1E2A3A"/>
                </a:solidFill>
                <a:latin typeface="Pretendard"/>
              </a:rPr>
              <a:t>프로젝트 전 과정에서 </a:t>
            </a:r>
            <a:r>
              <a:rPr sz="3200" b="1">
                <a:solidFill>
                  <a:srgbClr val="4ABAEB"/>
                </a:solidFill>
                <a:latin typeface="Pretendard"/>
              </a:rPr>
              <a:t>AI를 활용합니다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645920"/>
            <a:ext cx="1280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8C939A"/>
                </a:solidFill>
                <a:latin typeface="Pretendard"/>
              </a:rPr>
              <a:t>기획부터 제출까지, AI와 코드를 함께 활용한 워크플로우</a:t>
            </a:r>
          </a:p>
        </p:txBody>
      </p:sp>
      <p:sp>
        <p:nvSpPr>
          <p:cNvPr id="6" name="Oval 5"/>
          <p:cNvSpPr/>
          <p:nvPr/>
        </p:nvSpPr>
        <p:spPr>
          <a:xfrm>
            <a:off x="2011680" y="2926080"/>
            <a:ext cx="1371600" cy="1371600"/>
          </a:xfrm>
          <a:prstGeom prst="ellipse">
            <a:avLst/>
          </a:prstGeom>
          <a:solidFill>
            <a:srgbClr val="4ABA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011680" y="3291840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Pretendard"/>
              </a:rPr>
              <a:t>AI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457200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1E2A3A"/>
                </a:solidFill>
                <a:latin typeface="Pretendard"/>
              </a:rPr>
              <a:t>기획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5029200"/>
            <a:ext cx="25603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8C939A"/>
                </a:solidFill>
                <a:latin typeface="Pretendard"/>
              </a:rPr>
              <a:t>PRD 작성, 기능 설계
시장 조사, 사용자 분석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5943600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4ABAEB"/>
                </a:solidFill>
                <a:latin typeface="Pretendard"/>
              </a:rPr>
              <a:t>AI 주도</a:t>
            </a:r>
          </a:p>
        </p:txBody>
      </p:sp>
      <p:sp>
        <p:nvSpPr>
          <p:cNvPr id="11" name="Oval 10"/>
          <p:cNvSpPr/>
          <p:nvPr/>
        </p:nvSpPr>
        <p:spPr>
          <a:xfrm>
            <a:off x="5394960" y="2926080"/>
            <a:ext cx="1371600" cy="1371600"/>
          </a:xfrm>
          <a:prstGeom prst="ellipse">
            <a:avLst/>
          </a:prstGeom>
          <a:solidFill>
            <a:srgbClr val="C0C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394960" y="3291840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Pretendard"/>
              </a:rPr>
              <a:t>Code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754880" y="457200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1E2A3A"/>
                </a:solidFill>
                <a:latin typeface="Pretendard"/>
              </a:rPr>
              <a:t>디자인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754880" y="5029200"/>
            <a:ext cx="25603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8C939A"/>
                </a:solidFill>
                <a:latin typeface="Pretendard"/>
              </a:rPr>
              <a:t>UI/UX 설계
Figma 목업, 디자인 시스템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754880" y="5943600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8C939A"/>
                </a:solidFill>
                <a:latin typeface="Pretendard"/>
              </a:rPr>
              <a:t>코드 기반</a:t>
            </a:r>
          </a:p>
        </p:txBody>
      </p:sp>
      <p:sp>
        <p:nvSpPr>
          <p:cNvPr id="16" name="Oval 15"/>
          <p:cNvSpPr/>
          <p:nvPr/>
        </p:nvSpPr>
        <p:spPr>
          <a:xfrm>
            <a:off x="8778240" y="2926080"/>
            <a:ext cx="1371600" cy="1371600"/>
          </a:xfrm>
          <a:prstGeom prst="ellipse">
            <a:avLst/>
          </a:prstGeom>
          <a:solidFill>
            <a:srgbClr val="C0C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778240" y="3291840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Pretendard"/>
              </a:rPr>
              <a:t>C+A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138160" y="457200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1E2A3A"/>
                </a:solidFill>
                <a:latin typeface="Pretendard"/>
              </a:rPr>
              <a:t>개발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138160" y="5029200"/>
            <a:ext cx="25603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8C939A"/>
                </a:solidFill>
                <a:latin typeface="Pretendard"/>
              </a:rPr>
              <a:t>React + Supabase
API 연동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138160" y="5943600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8C939A"/>
                </a:solidFill>
                <a:latin typeface="Pretendard"/>
              </a:rPr>
              <a:t>코드 + API</a:t>
            </a:r>
          </a:p>
        </p:txBody>
      </p:sp>
      <p:sp>
        <p:nvSpPr>
          <p:cNvPr id="21" name="Oval 20"/>
          <p:cNvSpPr/>
          <p:nvPr/>
        </p:nvSpPr>
        <p:spPr>
          <a:xfrm>
            <a:off x="12161520" y="2926080"/>
            <a:ext cx="1371600" cy="1371600"/>
          </a:xfrm>
          <a:prstGeom prst="ellipse">
            <a:avLst/>
          </a:prstGeom>
          <a:solidFill>
            <a:srgbClr val="4ABA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2161520" y="3291840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Pretendard"/>
              </a:rPr>
              <a:t>AI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521440" y="457200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1E2A3A"/>
                </a:solidFill>
                <a:latin typeface="Pretendard"/>
              </a:rPr>
              <a:t>제출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521440" y="5029200"/>
            <a:ext cx="25603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8C939A"/>
                </a:solidFill>
                <a:latin typeface="Pretendard"/>
              </a:rPr>
              <a:t>발표 자료 작성
시연 시나리오 설계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521440" y="5943600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4ABAEB"/>
                </a:solidFill>
                <a:latin typeface="Pretendard"/>
              </a:rPr>
              <a:t>AI 주도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2743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8C939A"/>
                </a:solidFill>
                <a:latin typeface="Pretendard"/>
              </a:rPr>
              <a:t>디지털콘텐츠제작03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258800" y="7589520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>
                <a:solidFill>
                  <a:srgbClr val="8C939A"/>
                </a:solidFill>
                <a:latin typeface="Pretendard"/>
              </a:rPr>
              <a:t>18 / 19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91440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600" b="1">
                <a:solidFill>
                  <a:srgbClr val="4ABAEB"/>
                </a:solidFill>
                <a:latin typeface="Pretendard"/>
              </a:rPr>
              <a:t>비즈니스 </a:t>
            </a:r>
            <a:r>
              <a:rPr sz="3600" b="1">
                <a:solidFill>
                  <a:srgbClr val="1E2A3A"/>
                </a:solidFill>
                <a:latin typeface="Pretendard"/>
              </a:rPr>
              <a:t>모델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64592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8C939A"/>
                </a:solidFill>
                <a:latin typeface="Pretendard"/>
              </a:rPr>
              <a:t>16.1조 원 시장, 연 8%+ 성장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14400" y="2560320"/>
            <a:ext cx="5943600" cy="2286000"/>
          </a:xfrm>
          <a:prstGeom prst="round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88720" y="274320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4ABAEB"/>
                </a:solidFill>
                <a:latin typeface="Pretendard"/>
              </a:rPr>
              <a:t>가치 제안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88720" y="3108960"/>
            <a:ext cx="548640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E2A3A"/>
                </a:solidFill>
                <a:latin typeface="Pretendard"/>
              </a:rPr>
              <a:t>입소 후 가족-의료진-환자
실시간 소통 + AI 케어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0" y="2560320"/>
            <a:ext cx="5943600" cy="2286000"/>
          </a:xfrm>
          <a:prstGeom prst="round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589520" y="274320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4ABAEB"/>
                </a:solidFill>
                <a:latin typeface="Pretendard"/>
              </a:rPr>
              <a:t>고객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589520" y="3108960"/>
            <a:ext cx="548640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E2A3A"/>
                </a:solidFill>
                <a:latin typeface="Pretendard"/>
              </a:rPr>
              <a:t>보호자 (B2C)
요양원 (B2B)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14400" y="5120640"/>
            <a:ext cx="5943600" cy="2560320"/>
          </a:xfrm>
          <a:prstGeom prst="round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188720" y="530352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4ABAEB"/>
                </a:solidFill>
                <a:latin typeface="Pretendard"/>
              </a:rPr>
              <a:t>수익 모델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88720" y="5669279"/>
            <a:ext cx="5486400" cy="18287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E2A3A"/>
                </a:solidFill>
                <a:latin typeface="Pretendard"/>
              </a:rPr>
              <a:t>보호자 프리미엄
9,900~19,900원/월
요양원 B2B SaaS 월 구독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315200" y="5120640"/>
            <a:ext cx="5943600" cy="2560320"/>
          </a:xfrm>
          <a:prstGeom prst="round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589520" y="530352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4ABAEB"/>
                </a:solidFill>
                <a:latin typeface="Pretendard"/>
              </a:rPr>
              <a:t>경쟁 우위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589520" y="5669279"/>
            <a:ext cx="5486400" cy="18287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E2A3A"/>
                </a:solidFill>
                <a:latin typeface="Pretendard"/>
              </a:rPr>
              <a:t>3자 네트워크 효과
+ AI 케어 가이드 5개 모드
+ 케어 데이터 축적
국내 유일 — 경쟁자 0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2743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8C939A"/>
                </a:solidFill>
                <a:latin typeface="Pretendard"/>
              </a:rPr>
              <a:t>디지털콘텐츠제작03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258800" y="7589520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>
                <a:solidFill>
                  <a:srgbClr val="8C939A"/>
                </a:solidFill>
                <a:latin typeface="Pretendard"/>
              </a:rPr>
              <a:t>19 / 19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28800" y="274320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1E2A3A"/>
                </a:solidFill>
                <a:latin typeface="Pretendard"/>
              </a:rPr>
              <a:t>가족이 안심할 수 있도록,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28800" y="347472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1E2A3A"/>
                </a:solidFill>
                <a:latin typeface="Pretendard"/>
              </a:rPr>
              <a:t>케어의 모든 순간을 </a:t>
            </a:r>
            <a:r>
              <a:rPr sz="3200" b="1">
                <a:solidFill>
                  <a:srgbClr val="4ABAEB"/>
                </a:solidFill>
                <a:latin typeface="Pretendard"/>
              </a:rPr>
              <a:t>연결</a:t>
            </a:r>
            <a:r>
              <a:rPr sz="3200" b="1">
                <a:solidFill>
                  <a:srgbClr val="1E2A3A"/>
                </a:solidFill>
                <a:latin typeface="Pretendard"/>
              </a:rPr>
              <a:t>합니다.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0" y="50292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8C939A"/>
                </a:solidFill>
                <a:latin typeface="Pretendard"/>
              </a:rPr>
              <a:t>"오늘 하루도, 안녕하셨습니다"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1828800" y="6400800"/>
            <a:ext cx="10972800" cy="0"/>
          </a:xfrm>
          <a:prstGeom prst="line">
            <a:avLst/>
          </a:prstGeom>
          <a:ln w="6350">
            <a:solidFill>
              <a:srgbClr val="C0C0C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1828800" y="658368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8C939A"/>
                </a:solidFill>
                <a:latin typeface="Pretendard"/>
              </a:rPr>
              <a:t>E.O.D. — 이 기획서 자체를 AI로 작성했습니다.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28800" y="694944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4ABAEB"/>
                </a:solidFill>
                <a:latin typeface="Pretendard"/>
              </a:rPr>
              <a:t>노인과 바다 그리고 네잎클로버 · 2026. 03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